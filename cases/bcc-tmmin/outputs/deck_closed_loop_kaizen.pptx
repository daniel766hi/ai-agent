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7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8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9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ad5f5c93-3bd4-a204-8aaf-a3e0283acfef}">
          <p14:sldIdLst>
            <p14:sldId id="256"/>
            <p14:sldId id="257"/>
            <p14:sldId id="258"/>
          </p14:sldIdLst>
        </p14:section>
        <p14:section name="Masalah" id="{843bcbd5-12c4-a9e7-6ed1-1b2b082c9eb1}">
          <p14:sldIdLst>
            <p14:sldId id="259"/>
            <p14:sldId id="260"/>
            <p14:sldId id="261"/>
            <p14:sldId id="262"/>
            <p14:sldId id="263"/>
          </p14:sldIdLst>
        </p14:section>
        <p14:section name="Gagasan" id="{5ce5f493-75bf-9552-d5de-052026bcb89e}">
          <p14:sldIdLst>
            <p14:sldId id="264"/>
            <p14:sldId id="265"/>
            <p14:sldId id="266"/>
          </p14:sldIdLst>
        </p14:section>
        <p14:section name="Bukti" id="{c37fddb4-7d5a-a864-5e5c-9a5f3faa6552}">
          <p14:sldIdLst>
            <p14:sldId id="267"/>
            <p14:sldId id="268"/>
            <p14:sldId id="269"/>
            <p14:sldId id="270"/>
          </p14:sldIdLst>
        </p14:section>
        <p14:section name="Rencana" id="{51c5fcf1-d71c-6e81-b663-482328b0be1c}">
          <p14:sldIdLst>
            <p14:sldId id="271"/>
            <p14:sldId id="272"/>
            <p14:sldId id="273"/>
          </p14:sldIdLst>
        </p14:section>
        <p14:section name="Dampak" id="{3996a8b6-027d-564c-88b9-ec41bfcbce70}">
          <p14:sldIdLst>
            <p14:sldId id="274"/>
            <p14:sldId id="275"/>
            <p14:sldId id="276"/>
            <p14:sldId id="277"/>
          </p14:sldIdLst>
        </p14:section>
        <p14:section name="Penutup" id="{33f625bd-66a0-5898-74ff-efb098242a8a}">
          <p14:sldIdLst>
            <p14:sldId id="278"/>
          </p14:sldIdLst>
        </p14:section>
        <p14:section name="Lampiran" id="{33340525-3985-5257-3392-c31e338ac0e9}">
          <p14:sldIdLst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62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62C"/>
                </a:solidFill>
                <a:latin typeface="Calibri"/>
              </a:rPr>
              <a:t>Indeks biaya konversi per unit, Karawang (TMMIN 2023 = 100)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TMMIN</c:v>
                </c:pt>
              </c:strCache>
            </c:strRef>
          </c:tx>
          <c:spPr>
            <a:solidFill>
              <a:srgbClr val="C2410C"/>
            </a:solidFill>
            <a:ln w="38100" cap="flat">
              <a:solidFill>
                <a:srgbClr val="C241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62C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C2410C"/>
              </a:solidFill>
              <a:ln w="9525" cap="flat">
                <a:solidFill>
                  <a:srgbClr val="C241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103</c:v>
                </c:pt>
                <c:pt idx="2">
                  <c:v>106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Pemain baru</c:v>
                </c:pt>
              </c:strCache>
            </c:strRef>
          </c:tx>
          <c:spPr>
            <a:solidFill>
              <a:srgbClr val="0F7B8A"/>
            </a:solidFill>
            <a:ln w="38100" cap="flat">
              <a:solidFill>
                <a:srgbClr val="0F7B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62C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0F7B8A"/>
              </a:solidFill>
              <a:ln w="9525" cap="flat">
                <a:solidFill>
                  <a:srgbClr val="0F7B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94</c:v>
                </c:pt>
                <c:pt idx="1">
                  <c:v>91</c:v>
                </c:pt>
                <c:pt idx="2">
                  <c:v>89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62C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85"/>
        </c:scaling>
        <c:delete val="0"/>
        <c:axPos val="l"/>
        <c:majorGridlines>
          <c:spPr>
            <a:ln w="9525" cap="flat">
              <a:solidFill>
                <a:srgbClr val="D9E1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62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62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62C"/>
                </a:solidFill>
                <a:latin typeface="Calibri"/>
              </a:rPr>
              <a:t>Porsi volume HEV + PHEV + BEV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Porsi elektrifikasi</c:v>
                </c:pt>
              </c:strCache>
            </c:strRef>
          </c:tx>
          <c:spPr>
            <a:solidFill>
              <a:srgbClr val="0F7B8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62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2026</c:v>
                  </c:pt>
                  <c:pt idx="1">
                    <c:v>2030 moderat</c:v>
                  </c:pt>
                  <c:pt idx="2">
                    <c:v>2030 agresif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55</c:v>
                </c:pt>
                <c:pt idx="2">
                  <c:v>70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62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9525" cap="flat">
              <a:solidFill>
                <a:srgbClr val="D9E1E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62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62C"/>
                </a:solidFill>
                <a:latin typeface="Calibri"/>
              </a:rPr>
              <a:t>Poin indeks biaya konversi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 indeks</c:v>
                </c:pt>
              </c:strCache>
            </c:strRef>
          </c:tx>
          <c:spPr>
            <a:solidFill>
              <a:srgbClr val="7A8B9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62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8B9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7B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B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7B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Eskalasi upah &amp; energi 4%/th</c:v>
                  </c:pt>
                  <c:pt idx="1">
                    <c:v>Scrap 100 → 108</c:v>
                  </c:pt>
                  <c:pt idx="2">
                    <c:v>NVA 20% → 22%</c:v>
                  </c:pt>
                  <c:pt idx="3">
                    <c:v>Downtime 100 → 111 (maks)</c:v>
                  </c:pt>
                  <c:pt idx="4">
                    <c:v>Selisih ke pemain baru 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4.2</c:v>
                </c:pt>
                <c:pt idx="1">
                  <c:v>0.8</c:v>
                </c:pt>
                <c:pt idx="2">
                  <c:v>1</c:v>
                </c:pt>
                <c:pt idx="3">
                  <c:v>1.4</c:v>
                </c:pt>
                <c:pt idx="4">
                  <c:v>17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62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9E1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62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62C"/>
                </a:solidFill>
                <a:latin typeface="Calibri"/>
              </a:rPr>
              <a:t>Indeks scrap area pilot (hari ini = 100)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Indeks scrap area pilot</c:v>
                </c:pt>
              </c:strCache>
            </c:strRef>
          </c:tx>
          <c:spPr>
            <a:solidFill>
              <a:srgbClr val="7A8B92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62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8B9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B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7B8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Hari ini: visual di akhir</c:v>
                  </c:pt>
                  <c:pt idx="1">
                    <c:v>Kamera lebih baik di akhir</c:v>
                  </c:pt>
                  <c:pt idx="2">
                    <c:v>Loop, 31% alert diabaikan</c:v>
                  </c:pt>
                  <c:pt idx="3">
                    <c:v>Loop berpusat manusia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111.7</c:v>
                </c:pt>
                <c:pt idx="2">
                  <c:v>33.3</c:v>
                </c:pt>
                <c:pt idx="3">
                  <c:v>15.3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B262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5"/>
          <c:min val="0"/>
        </c:scaling>
        <c:delete val="0"/>
        <c:axPos val="l"/>
        <c:majorGridlines>
          <c:spPr>
            <a:ln w="9525" cap="flat">
              <a:solidFill>
                <a:srgbClr val="D9E1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62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62C"/>
                </a:solidFill>
                <a:latin typeface="Calibri"/>
              </a:rPr>
              <a:t>Indeks biaya konversi, harga konstan 2025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Tanpa tindakan</c:v>
                </c:pt>
              </c:strCache>
            </c:strRef>
          </c:tx>
          <c:spPr>
            <a:solidFill>
              <a:srgbClr val="7A8B92"/>
            </a:solidFill>
            <a:ln w="25400" cap="flat">
              <a:solidFill>
                <a:srgbClr val="7A8B9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62C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A8B92"/>
              </a:solidFill>
              <a:ln w="9525" cap="flat">
                <a:solidFill>
                  <a:srgbClr val="7A8B9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  <c:pt idx="4">
                    <c:v>2027</c:v>
                  </c:pt>
                  <c:pt idx="5">
                    <c:v>2028</c:v>
                  </c:pt>
                  <c:pt idx="6">
                    <c:v>2029</c:v>
                  </c:pt>
                  <c:pt idx="7">
                    <c:v>2030</c:v>
                  </c:pt>
                  <c:pt idx="8">
                    <c:v>2031</c:v>
                  </c:pt>
                  <c:pt idx="9">
                    <c:v>2032</c:v>
                  </c:pt>
                  <c:pt idx="10">
                    <c:v>2033</c:v>
                  </c:pt>
                  <c:pt idx="11">
                    <c:v>2034</c:v>
                  </c:pt>
                  <c:pt idx="12">
                    <c:v>2035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104.72</c:v>
                </c:pt>
                <c:pt idx="1">
                  <c:v>105.88</c:v>
                </c:pt>
                <c:pt idx="2">
                  <c:v>107.22</c:v>
                </c:pt>
                <c:pt idx="3">
                  <c:v>108.63</c:v>
                </c:pt>
                <c:pt idx="4">
                  <c:v>110.02</c:v>
                </c:pt>
                <c:pt idx="5">
                  <c:v>111.38</c:v>
                </c:pt>
                <c:pt idx="6">
                  <c:v>112.68</c:v>
                </c:pt>
                <c:pt idx="7">
                  <c:v>113.92</c:v>
                </c:pt>
                <c:pt idx="8">
                  <c:v>115.04</c:v>
                </c:pt>
                <c:pt idx="9">
                  <c:v>116.06</c:v>
                </c:pt>
                <c:pt idx="10">
                  <c:v>117</c:v>
                </c:pt>
                <c:pt idx="11">
                  <c:v>117.89</c:v>
                </c:pt>
                <c:pt idx="12">
                  <c:v>118.74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Beli teknologi saja</c:v>
                </c:pt>
              </c:strCache>
            </c:strRef>
          </c:tx>
          <c:spPr>
            <a:solidFill>
              <a:srgbClr val="C2410C"/>
            </a:solidFill>
            <a:ln w="25400" cap="flat">
              <a:solidFill>
                <a:srgbClr val="C241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62C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2410C"/>
              </a:solidFill>
              <a:ln w="9525" cap="flat">
                <a:solidFill>
                  <a:srgbClr val="C241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  <c:pt idx="4">
                    <c:v>2027</c:v>
                  </c:pt>
                  <c:pt idx="5">
                    <c:v>2028</c:v>
                  </c:pt>
                  <c:pt idx="6">
                    <c:v>2029</c:v>
                  </c:pt>
                  <c:pt idx="7">
                    <c:v>2030</c:v>
                  </c:pt>
                  <c:pt idx="8">
                    <c:v>2031</c:v>
                  </c:pt>
                  <c:pt idx="9">
                    <c:v>2032</c:v>
                  </c:pt>
                  <c:pt idx="10">
                    <c:v>2033</c:v>
                  </c:pt>
                  <c:pt idx="11">
                    <c:v>2034</c:v>
                  </c:pt>
                  <c:pt idx="12">
                    <c:v>2035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104.72</c:v>
                </c:pt>
                <c:pt idx="1">
                  <c:v>105.88</c:v>
                </c:pt>
                <c:pt idx="2">
                  <c:v>107.22</c:v>
                </c:pt>
                <c:pt idx="3">
                  <c:v>108.63</c:v>
                </c:pt>
                <c:pt idx="4">
                  <c:v>110.16</c:v>
                </c:pt>
                <c:pt idx="5">
                  <c:v>111.8</c:v>
                </c:pt>
                <c:pt idx="6">
                  <c:v>113.59</c:v>
                </c:pt>
                <c:pt idx="7">
                  <c:v>115.24</c:v>
                </c:pt>
                <c:pt idx="8">
                  <c:v>116.57</c:v>
                </c:pt>
                <c:pt idx="9">
                  <c:v>117.66</c:v>
                </c:pt>
                <c:pt idx="10">
                  <c:v>118.64</c:v>
                </c:pt>
                <c:pt idx="11">
                  <c:v>119.56</c:v>
                </c:pt>
                <c:pt idx="12">
                  <c:v>120.44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Program SDM saja</c:v>
                </c:pt>
              </c:strCache>
            </c:strRef>
          </c:tx>
          <c:spPr>
            <a:solidFill>
              <a:srgbClr val="2E7D32"/>
            </a:solidFill>
            <a:ln w="25400" cap="flat">
              <a:solidFill>
                <a:srgbClr val="2E7D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62C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  <c:pt idx="4">
                    <c:v>2027</c:v>
                  </c:pt>
                  <c:pt idx="5">
                    <c:v>2028</c:v>
                  </c:pt>
                  <c:pt idx="6">
                    <c:v>2029</c:v>
                  </c:pt>
                  <c:pt idx="7">
                    <c:v>2030</c:v>
                  </c:pt>
                  <c:pt idx="8">
                    <c:v>2031</c:v>
                  </c:pt>
                  <c:pt idx="9">
                    <c:v>2032</c:v>
                  </c:pt>
                  <c:pt idx="10">
                    <c:v>2033</c:v>
                  </c:pt>
                  <c:pt idx="11">
                    <c:v>2034</c:v>
                  </c:pt>
                  <c:pt idx="12">
                    <c:v>2035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104.72</c:v>
                </c:pt>
                <c:pt idx="1">
                  <c:v>105.88</c:v>
                </c:pt>
                <c:pt idx="2">
                  <c:v>107.22</c:v>
                </c:pt>
                <c:pt idx="3">
                  <c:v>108.62</c:v>
                </c:pt>
                <c:pt idx="4">
                  <c:v>110.28</c:v>
                </c:pt>
                <c:pt idx="5">
                  <c:v>111.1</c:v>
                </c:pt>
                <c:pt idx="6">
                  <c:v>111.11</c:v>
                </c:pt>
                <c:pt idx="7">
                  <c:v>110.71</c:v>
                </c:pt>
                <c:pt idx="8">
                  <c:v>109.6</c:v>
                </c:pt>
                <c:pt idx="9">
                  <c:v>108.07</c:v>
                </c:pt>
                <c:pt idx="10">
                  <c:v>106.73</c:v>
                </c:pt>
                <c:pt idx="11">
                  <c:v>106.18</c:v>
                </c:pt>
                <c:pt idx="12">
                  <c:v>106.09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Closed-Loop Kaizen</c:v>
                </c:pt>
              </c:strCache>
            </c:strRef>
          </c:tx>
          <c:spPr>
            <a:solidFill>
              <a:srgbClr val="0F7B8A"/>
            </a:solidFill>
            <a:ln w="25400" cap="flat">
              <a:solidFill>
                <a:srgbClr val="0F7B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62C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8A"/>
              </a:solidFill>
              <a:ln w="9525" cap="flat">
                <a:solidFill>
                  <a:srgbClr val="0F7B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  <c:pt idx="4">
                    <c:v>2027</c:v>
                  </c:pt>
                  <c:pt idx="5">
                    <c:v>2028</c:v>
                  </c:pt>
                  <c:pt idx="6">
                    <c:v>2029</c:v>
                  </c:pt>
                  <c:pt idx="7">
                    <c:v>2030</c:v>
                  </c:pt>
                  <c:pt idx="8">
                    <c:v>2031</c:v>
                  </c:pt>
                  <c:pt idx="9">
                    <c:v>2032</c:v>
                  </c:pt>
                  <c:pt idx="10">
                    <c:v>2033</c:v>
                  </c:pt>
                  <c:pt idx="11">
                    <c:v>2034</c:v>
                  </c:pt>
                  <c:pt idx="12">
                    <c:v>2035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104.72</c:v>
                </c:pt>
                <c:pt idx="1">
                  <c:v>105.88</c:v>
                </c:pt>
                <c:pt idx="2">
                  <c:v>107.22</c:v>
                </c:pt>
                <c:pt idx="3">
                  <c:v>108.59</c:v>
                </c:pt>
                <c:pt idx="4">
                  <c:v>109.17</c:v>
                </c:pt>
                <c:pt idx="5">
                  <c:v>107.46</c:v>
                </c:pt>
                <c:pt idx="6">
                  <c:v>103.92</c:v>
                </c:pt>
                <c:pt idx="7">
                  <c:v>100.84</c:v>
                </c:pt>
                <c:pt idx="8">
                  <c:v>98.97</c:v>
                </c:pt>
                <c:pt idx="9">
                  <c:v>98.44</c:v>
                </c:pt>
                <c:pt idx="10">
                  <c:v>98.35</c:v>
                </c:pt>
                <c:pt idx="11">
                  <c:v>98.37</c:v>
                </c:pt>
                <c:pt idx="12">
                  <c:v>98.43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62C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5"/>
          <c:min val="95"/>
        </c:scaling>
        <c:delete val="0"/>
        <c:axPos val="l"/>
        <c:majorGridlines>
          <c:spPr>
            <a:ln w="9525" cap="flat">
              <a:solidFill>
                <a:srgbClr val="D9E1E4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62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62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62C"/>
                </a:solidFill>
                <a:latin typeface="Calibri"/>
              </a:rPr>
              <a:t>Porsi waktu engineer untuk perbaikan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Tanpa tindakan</c:v>
                </c:pt>
              </c:strCache>
            </c:strRef>
          </c:tx>
          <c:spPr>
            <a:solidFill>
              <a:srgbClr val="7A8B92"/>
            </a:solidFill>
            <a:ln w="25400" cap="flat">
              <a:solidFill>
                <a:srgbClr val="7A8B9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62C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A8B92"/>
              </a:solidFill>
              <a:ln w="9525" cap="flat">
                <a:solidFill>
                  <a:srgbClr val="7A8B9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  <c:pt idx="4">
                    <c:v>2027</c:v>
                  </c:pt>
                  <c:pt idx="5">
                    <c:v>2028</c:v>
                  </c:pt>
                  <c:pt idx="6">
                    <c:v>2029</c:v>
                  </c:pt>
                  <c:pt idx="7">
                    <c:v>2030</c:v>
                  </c:pt>
                  <c:pt idx="8">
                    <c:v>2031</c:v>
                  </c:pt>
                  <c:pt idx="9">
                    <c:v>2032</c:v>
                  </c:pt>
                  <c:pt idx="10">
                    <c:v>2033</c:v>
                  </c:pt>
                  <c:pt idx="11">
                    <c:v>2034</c:v>
                  </c:pt>
                  <c:pt idx="12">
                    <c:v>2035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27.36</c:v>
                </c:pt>
                <c:pt idx="1">
                  <c:v>25.78</c:v>
                </c:pt>
                <c:pt idx="2">
                  <c:v>23.89</c:v>
                </c:pt>
                <c:pt idx="3">
                  <c:v>21.85</c:v>
                </c:pt>
                <c:pt idx="4">
                  <c:v>19.8</c:v>
                </c:pt>
                <c:pt idx="5">
                  <c:v>17.82</c:v>
                </c:pt>
                <c:pt idx="6">
                  <c:v>15.92</c:v>
                </c:pt>
                <c:pt idx="7">
                  <c:v>15</c:v>
                </c:pt>
                <c:pt idx="8">
                  <c:v>15</c:v>
                </c:pt>
                <c:pt idx="9">
                  <c:v>15</c:v>
                </c:pt>
                <c:pt idx="10">
                  <c:v>15</c:v>
                </c:pt>
                <c:pt idx="11">
                  <c:v>15</c:v>
                </c:pt>
                <c:pt idx="12">
                  <c:v>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Program SDM saja</c:v>
                </c:pt>
              </c:strCache>
            </c:strRef>
          </c:tx>
          <c:spPr>
            <a:solidFill>
              <a:srgbClr val="2E7D32"/>
            </a:solidFill>
            <a:ln w="25400" cap="flat">
              <a:solidFill>
                <a:srgbClr val="2E7D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62C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  <c:pt idx="4">
                    <c:v>2027</c:v>
                  </c:pt>
                  <c:pt idx="5">
                    <c:v>2028</c:v>
                  </c:pt>
                  <c:pt idx="6">
                    <c:v>2029</c:v>
                  </c:pt>
                  <c:pt idx="7">
                    <c:v>2030</c:v>
                  </c:pt>
                  <c:pt idx="8">
                    <c:v>2031</c:v>
                  </c:pt>
                  <c:pt idx="9">
                    <c:v>2032</c:v>
                  </c:pt>
                  <c:pt idx="10">
                    <c:v>2033</c:v>
                  </c:pt>
                  <c:pt idx="11">
                    <c:v>2034</c:v>
                  </c:pt>
                  <c:pt idx="12">
                    <c:v>2035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27.36</c:v>
                </c:pt>
                <c:pt idx="1">
                  <c:v>25.78</c:v>
                </c:pt>
                <c:pt idx="2">
                  <c:v>23.89</c:v>
                </c:pt>
                <c:pt idx="3">
                  <c:v>21.96</c:v>
                </c:pt>
                <c:pt idx="4">
                  <c:v>28.28</c:v>
                </c:pt>
                <c:pt idx="5">
                  <c:v>30</c:v>
                </c:pt>
                <c:pt idx="6">
                  <c:v>31.48</c:v>
                </c:pt>
                <c:pt idx="7">
                  <c:v>35.64</c:v>
                </c:pt>
                <c:pt idx="8">
                  <c:v>39.32</c:v>
                </c:pt>
                <c:pt idx="9">
                  <c:v>41.84</c:v>
                </c:pt>
                <c:pt idx="10">
                  <c:v>44.09</c:v>
                </c:pt>
                <c:pt idx="11">
                  <c:v>45</c:v>
                </c:pt>
                <c:pt idx="12">
                  <c:v>45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Closed-Loop Kaizen</c:v>
                </c:pt>
              </c:strCache>
            </c:strRef>
          </c:tx>
          <c:spPr>
            <a:solidFill>
              <a:srgbClr val="0F7B8A"/>
            </a:solidFill>
            <a:ln w="25400" cap="flat">
              <a:solidFill>
                <a:srgbClr val="0F7B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62C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8A"/>
              </a:solidFill>
              <a:ln w="9525" cap="flat">
                <a:solidFill>
                  <a:srgbClr val="0F7B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  <c:pt idx="4">
                    <c:v>2027</c:v>
                  </c:pt>
                  <c:pt idx="5">
                    <c:v>2028</c:v>
                  </c:pt>
                  <c:pt idx="6">
                    <c:v>2029</c:v>
                  </c:pt>
                  <c:pt idx="7">
                    <c:v>2030</c:v>
                  </c:pt>
                  <c:pt idx="8">
                    <c:v>2031</c:v>
                  </c:pt>
                  <c:pt idx="9">
                    <c:v>2032</c:v>
                  </c:pt>
                  <c:pt idx="10">
                    <c:v>2033</c:v>
                  </c:pt>
                  <c:pt idx="11">
                    <c:v>2034</c:v>
                  </c:pt>
                  <c:pt idx="12">
                    <c:v>2035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27.36</c:v>
                </c:pt>
                <c:pt idx="1">
                  <c:v>25.78</c:v>
                </c:pt>
                <c:pt idx="2">
                  <c:v>23.89</c:v>
                </c:pt>
                <c:pt idx="3">
                  <c:v>21.96</c:v>
                </c:pt>
                <c:pt idx="4">
                  <c:v>28.28</c:v>
                </c:pt>
                <c:pt idx="5">
                  <c:v>30.05</c:v>
                </c:pt>
                <c:pt idx="6">
                  <c:v>33.88</c:v>
                </c:pt>
                <c:pt idx="7">
                  <c:v>41.03</c:v>
                </c:pt>
                <c:pt idx="8">
                  <c:v>45</c:v>
                </c:pt>
                <c:pt idx="9">
                  <c:v>45</c:v>
                </c:pt>
                <c:pt idx="10">
                  <c:v>45</c:v>
                </c:pt>
                <c:pt idx="11">
                  <c:v>45</c:v>
                </c:pt>
                <c:pt idx="12">
                  <c:v>45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62C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10"/>
        </c:scaling>
        <c:delete val="0"/>
        <c:axPos val="l"/>
        <c:majorGridlines>
          <c:spPr>
            <a:ln w="9525" cap="flat">
              <a:solidFill>
                <a:srgbClr val="D9E1E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62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62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62C"/>
                </a:solidFill>
                <a:latin typeface="Calibri"/>
              </a:rPr>
              <a:t>Engineer Software &amp; AI di L3+ (dari 30), rata-rata tahunan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Engineer SW &amp; AI L3+</c:v>
                </c:pt>
              </c:strCache>
            </c:strRef>
          </c:tx>
          <c:spPr>
            <a:solidFill>
              <a:srgbClr val="0F7B8A"/>
            </a:solidFill>
            <a:ln w="38100" cap="flat">
              <a:solidFill>
                <a:srgbClr val="0F7B8A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62C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F7B8A"/>
              </a:solidFill>
              <a:ln w="9525" cap="flat">
                <a:solidFill>
                  <a:srgbClr val="0F7B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2.04</c:v>
                </c:pt>
                <c:pt idx="2">
                  <c:v>3.53</c:v>
                </c:pt>
                <c:pt idx="3">
                  <c:v>6.21</c:v>
                </c:pt>
                <c:pt idx="4">
                  <c:v>9.16</c:v>
                </c:pt>
                <c:pt idx="5">
                  <c:v>12.08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62C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9525" cap="flat">
              <a:solidFill>
                <a:srgbClr val="D9E1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62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62C"/>
                </a:solidFill>
                <a:latin typeface="Calibri"/>
              </a:rPr>
              <a:t>NPV per skenario, model finansial (Rp miliar, 10%)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NPV 2026–2030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62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7B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B8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Konservatif (Rp110 M)</c:v>
                  </c:pt>
                  <c:pt idx="1">
                    <c:v>Dasar (Rp80 M)</c:v>
                  </c:pt>
                  <c:pt idx="2">
                    <c:v>Optimis (Rp60 M)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-55.4</c:v>
                </c:pt>
                <c:pt idx="1">
                  <c:v>27</c:v>
                </c:pt>
                <c:pt idx="2">
                  <c:v>102.4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62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9E1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62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62C"/>
                </a:solidFill>
                <a:latin typeface="Calibri"/>
              </a:rPr>
              <a:t>Peluang NPV &gt; 0, model system dynamics (1.500 simulasi)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P(NPV&gt;0)</c:v>
                </c:pt>
              </c:strCache>
            </c:strRef>
          </c:tx>
          <c:spPr>
            <a:solidFill>
              <a:srgbClr val="0F7B8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62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7B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8B9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8B9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7B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Rencana: pilot-light + gate</c:v>
                  </c:pt>
                  <c:pt idx="1">
                    <c:v>Pilot-light tanpa gate</c:v>
                  </c:pt>
                  <c:pt idx="2">
                    <c:v>Belanja di awal + gate</c:v>
                  </c:pt>
                  <c:pt idx="3">
                    <c:v>Loop gagal: pilot-light + gate</c:v>
                  </c:pt>
                  <c:pt idx="4">
                    <c:v>Loop gagal: belanja di awal + gate</c:v>
                  </c:pt>
                  <c:pt idx="5">
                    <c:v>Rencana, terlambat 1 tahun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94</c:v>
                </c:pt>
                <c:pt idx="1">
                  <c:v>87</c:v>
                </c:pt>
                <c:pt idx="2">
                  <c:v>99</c:v>
                </c:pt>
                <c:pt idx="3">
                  <c:v>90</c:v>
                </c:pt>
                <c:pt idx="4">
                  <c:v>60</c:v>
                </c:pt>
                <c:pt idx="5">
                  <c:v>21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62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b"/>
        <c:majorGridlines>
          <c:spPr>
            <a:ln w="9525" cap="flat">
              <a:solidFill>
                <a:srgbClr val="D9E1E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62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62C"/>
                </a:solidFill>
                <a:latin typeface="Calibri"/>
              </a:rPr>
              <a:t>CO₂ dihindari dari loop energi (ton per tahun)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 CO2 dihindari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62C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  <c:pt idx="5">
                    <c:v>2031</c:v>
                  </c:pt>
                  <c:pt idx="6">
                    <c:v>2032</c:v>
                  </c:pt>
                  <c:pt idx="7">
                    <c:v>2033</c:v>
                  </c:pt>
                  <c:pt idx="8">
                    <c:v>2034</c:v>
                  </c:pt>
                  <c:pt idx="9">
                    <c:v>2035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180</c:v>
                </c:pt>
                <c:pt idx="2">
                  <c:v>549</c:v>
                </c:pt>
                <c:pt idx="3">
                  <c:v>1210</c:v>
                </c:pt>
                <c:pt idx="4">
                  <c:v>1765</c:v>
                </c:pt>
                <c:pt idx="5">
                  <c:v>2080</c:v>
                </c:pt>
                <c:pt idx="6">
                  <c:v>2215</c:v>
                </c:pt>
                <c:pt idx="7">
                  <c:v>2309</c:v>
                </c:pt>
                <c:pt idx="8">
                  <c:v>2402</c:v>
                </c:pt>
                <c:pt idx="9">
                  <c:v>2499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62C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9E1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62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62C"/>
                </a:solidFill>
                <a:latin typeface="Calibri"/>
              </a:rPr>
              <a:t>Indeks biaya, harga konstan 2025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Cara kerja dipertahankan</c:v>
                </c:pt>
              </c:strCache>
            </c:strRef>
          </c:tx>
          <c:spPr>
            <a:solidFill>
              <a:srgbClr val="0F7B8A"/>
            </a:solidFill>
            <a:ln w="25400" cap="flat">
              <a:solidFill>
                <a:srgbClr val="0F7B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62C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8A"/>
              </a:solidFill>
              <a:ln w="9525" cap="flat">
                <a:solidFill>
                  <a:srgbClr val="0F7B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  <c:pt idx="4">
                    <c:v>2027</c:v>
                  </c:pt>
                  <c:pt idx="5">
                    <c:v>2028</c:v>
                  </c:pt>
                  <c:pt idx="6">
                    <c:v>2029</c:v>
                  </c:pt>
                  <c:pt idx="7">
                    <c:v>2030</c:v>
                  </c:pt>
                  <c:pt idx="8">
                    <c:v>2031</c:v>
                  </c:pt>
                  <c:pt idx="9">
                    <c:v>2032</c:v>
                  </c:pt>
                  <c:pt idx="10">
                    <c:v>2033</c:v>
                  </c:pt>
                  <c:pt idx="11">
                    <c:v>2034</c:v>
                  </c:pt>
                  <c:pt idx="12">
                    <c:v>2035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104.72</c:v>
                </c:pt>
                <c:pt idx="1">
                  <c:v>105.88</c:v>
                </c:pt>
                <c:pt idx="2">
                  <c:v>107.22</c:v>
                </c:pt>
                <c:pt idx="3">
                  <c:v>108.59</c:v>
                </c:pt>
                <c:pt idx="4">
                  <c:v>109.17</c:v>
                </c:pt>
                <c:pt idx="5">
                  <c:v>107.46</c:v>
                </c:pt>
                <c:pt idx="6">
                  <c:v>103.92</c:v>
                </c:pt>
                <c:pt idx="7">
                  <c:v>100.84</c:v>
                </c:pt>
                <c:pt idx="8">
                  <c:v>98.97</c:v>
                </c:pt>
                <c:pt idx="9">
                  <c:v>98.44</c:v>
                </c:pt>
                <c:pt idx="10">
                  <c:v>98.35</c:v>
                </c:pt>
                <c:pt idx="11">
                  <c:v>98.37</c:v>
                </c:pt>
                <c:pt idx="12">
                  <c:v>98.43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Program dihentikan 2031</c:v>
                </c:pt>
              </c:strCache>
            </c:strRef>
          </c:tx>
          <c:spPr>
            <a:solidFill>
              <a:srgbClr val="C2410C"/>
            </a:solidFill>
            <a:ln w="25400" cap="flat">
              <a:solidFill>
                <a:srgbClr val="C241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62C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2410C"/>
              </a:solidFill>
              <a:ln w="9525" cap="flat">
                <a:solidFill>
                  <a:srgbClr val="C241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  <c:pt idx="4">
                    <c:v>2027</c:v>
                  </c:pt>
                  <c:pt idx="5">
                    <c:v>2028</c:v>
                  </c:pt>
                  <c:pt idx="6">
                    <c:v>2029</c:v>
                  </c:pt>
                  <c:pt idx="7">
                    <c:v>2030</c:v>
                  </c:pt>
                  <c:pt idx="8">
                    <c:v>2031</c:v>
                  </c:pt>
                  <c:pt idx="9">
                    <c:v>2032</c:v>
                  </c:pt>
                  <c:pt idx="10">
                    <c:v>2033</c:v>
                  </c:pt>
                  <c:pt idx="11">
                    <c:v>2034</c:v>
                  </c:pt>
                  <c:pt idx="12">
                    <c:v>2035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104.72</c:v>
                </c:pt>
                <c:pt idx="1">
                  <c:v>105.88</c:v>
                </c:pt>
                <c:pt idx="2">
                  <c:v>107.22</c:v>
                </c:pt>
                <c:pt idx="3">
                  <c:v>108.59</c:v>
                </c:pt>
                <c:pt idx="4">
                  <c:v>109.17</c:v>
                </c:pt>
                <c:pt idx="5">
                  <c:v>107.46</c:v>
                </c:pt>
                <c:pt idx="6">
                  <c:v>103.92</c:v>
                </c:pt>
                <c:pt idx="7">
                  <c:v>100.84</c:v>
                </c:pt>
                <c:pt idx="8">
                  <c:v>100.76</c:v>
                </c:pt>
                <c:pt idx="9">
                  <c:v>102.6</c:v>
                </c:pt>
                <c:pt idx="10">
                  <c:v>103.78</c:v>
                </c:pt>
                <c:pt idx="11">
                  <c:v>104.63</c:v>
                </c:pt>
                <c:pt idx="12">
                  <c:v>105.22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Tanpa tindakan</c:v>
                </c:pt>
              </c:strCache>
            </c:strRef>
          </c:tx>
          <c:spPr>
            <a:solidFill>
              <a:srgbClr val="7A8B92"/>
            </a:solidFill>
            <a:ln w="25400" cap="flat">
              <a:solidFill>
                <a:srgbClr val="7A8B9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62C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A8B92"/>
              </a:solidFill>
              <a:ln w="9525" cap="flat">
                <a:solidFill>
                  <a:srgbClr val="7A8B9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  <c:pt idx="4">
                    <c:v>2027</c:v>
                  </c:pt>
                  <c:pt idx="5">
                    <c:v>2028</c:v>
                  </c:pt>
                  <c:pt idx="6">
                    <c:v>2029</c:v>
                  </c:pt>
                  <c:pt idx="7">
                    <c:v>2030</c:v>
                  </c:pt>
                  <c:pt idx="8">
                    <c:v>2031</c:v>
                  </c:pt>
                  <c:pt idx="9">
                    <c:v>2032</c:v>
                  </c:pt>
                  <c:pt idx="10">
                    <c:v>2033</c:v>
                  </c:pt>
                  <c:pt idx="11">
                    <c:v>2034</c:v>
                  </c:pt>
                  <c:pt idx="12">
                    <c:v>2035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104.72</c:v>
                </c:pt>
                <c:pt idx="1">
                  <c:v>105.88</c:v>
                </c:pt>
                <c:pt idx="2">
                  <c:v>107.22</c:v>
                </c:pt>
                <c:pt idx="3">
                  <c:v>108.63</c:v>
                </c:pt>
                <c:pt idx="4">
                  <c:v>110.02</c:v>
                </c:pt>
                <c:pt idx="5">
                  <c:v>111.38</c:v>
                </c:pt>
                <c:pt idx="6">
                  <c:v>112.68</c:v>
                </c:pt>
                <c:pt idx="7">
                  <c:v>113.92</c:v>
                </c:pt>
                <c:pt idx="8">
                  <c:v>115.04</c:v>
                </c:pt>
                <c:pt idx="9">
                  <c:v>116.06</c:v>
                </c:pt>
                <c:pt idx="10">
                  <c:v>117</c:v>
                </c:pt>
                <c:pt idx="11">
                  <c:v>117.89</c:v>
                </c:pt>
                <c:pt idx="12">
                  <c:v>118.74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62C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  <c:max val="125"/>
          <c:min val="95"/>
        </c:scaling>
        <c:delete val="0"/>
        <c:axPos val="l"/>
        <c:majorGridlines>
          <c:spPr>
            <a:ln w="9525" cap="flat">
              <a:solidFill>
                <a:srgbClr val="D9E1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62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angka ini. Exhibit 3: TMMIN 100 → 106, pemain baru 94 → 89. Separuh pelebaran datang dari pesaing yang terus membaik.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Jawaban, tiga angka, permintaan. Rentang berasal dari dua model: spreadsheet (tuas × adopsi) dan system dynamics (lebih konservatif karena kemerosotan harus dihentikan dulu).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Exhibit 1 dan 8. Multi-pathway berarti lebih banyak varian di lini yang 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Pola sistemik, bukan masalah satu departemen. Tunjukkan ide terimplementasi: 1,08 → 0,67 per engineer.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Jembatan 100 → 106 memakai porsi biaya asumsi tim. Bagian yang bisa dikendalikan hanya 1,8–3,3 dari 17 poin.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5-whys di work/2_diagnosis.md §5. Ini juga pola jebakan firefighting (Repenning &amp; Sterman 2001).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Skor = (biaya + kualitas + fleksibilitas) × (4 − level). Final assembly skor dampaknya tinggi; sealer dipilih untuk pilot karena sinyalnya paling jelas dan asetnya 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Biaya rendah adalah hasil, bukan visinya. Tiga nilai di luar biaya, semua dari model system dynamics.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Teknologi hanya membawa sinyal. Yang berubah adalah ke mana sinyal pergi, siapa yang bertindak, dan apakah ada waktu untuk memperbaiki.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Langkah 2, 4, dan 5 yang hilang. Itulah sebabnya kamera saja tidak menyelesaikan masalah.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Simulasi drift sealer, 175.000 unit, 300 simulasi. Kamera menemukan lebih banyak cacat tetapi terlambat. Kepercayaan operator bernilai: 31% alert diabaikan berarti manfaat 64%.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stock-and-flow, dikalibrasi ke Ex.4/6A 2023–2025 (galat &lt; 3%). Program SDM saja membangun orang, tetapi sinyal tetap terlambat.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Melindungi 35–40% sejak awal terbukti merugikan; kami melindungi norma 30% dan mengunci waktu yang dibebaskan loop. Tanpa perlindungan, gate salah berhenti di 46% simulasi.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opsi, 7 kriteria termasuk laju belajar. Tanpa opsi gabungan, empat opsi tunggal bergantian menang.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Gate: scrap pilot −60%, pengabaian alert ≤ 20%, adopsi ≥ 80%, loop di semua shift, ide ≥ 0,75 per engineer, waktu perbaikan ≥ 30%. Controller menilai secara independen.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Kecepatan adalah risiko terbesar: terlambat satu tahun berarti peluang NPV positif 21–32%.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Laju akademi: L1→L2 30%/tahun, L2→L3 20%/tahun. Laju ini juga membatasi rollout di model. Mitra hanya untuk pilot dan teknologi khusus, dengan transfer pengetahuan.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Spreadsheet: run-rate Rp48,1 M/tahun (8,6% biaya konversi). System dynamics: NPV Rp31,4 M vs tanpa tindakan; terhadap kinerja yang dibekukan di 2025, NPV 2026–30 −65,4 M dan 2026–35 Rp17,0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Belanja di awal lebih untung bila loop berhasil, tetapi bila gagal peluang NPV positif hanya 60% vs 90% dengan pilot-light. Kami membayar premi itu dengan sadar; gate mengizinkan percepatan.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Listrik PLN I-3 Rp1.114,74/kWh; grid Jamali 0,80 tCO2/MWh; 70% biaya energi listrik (asumsi). Dampak CO2 kecil; manfaat lingkungan terbesar adalah material yang tidak terbuang.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Delapan target draf lama diturunkan agar konsisten dengan model (lampiran A3).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permintaan. Rujuk ke slide 15 untuk kriteria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Stok: kolam masalah, kapabilitas perbaikan, know-how, engineer per level, kepatuhan alert, cakupan loop dan standar data. Penahan: lantai masalah 85%, produktivitas maks 2×, firefighting membersihkan gejala.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Asumsi spreadsheet dan hasil system dynamics sama-sama di bawah benchmark publik.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Bila pengukuran bertentangan dengan harapan, temuan yang menang.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DARK">
    <p:bg>
      <p:bgPr>
        <a:solidFill>
          <a:srgbClr val="0F3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0058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0F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Kaizen · M3C 2026 · [Nama Tim]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chart" Target="/ppt/charts/chart11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Closed-Loop Kaizen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Pabrik yang belajar dari dirinya sendiri, dengan orang-orang TMMIN sebagai pusatnya</a:t>
            </a:r>
            <a:endParaRPr lang="en-US" sz="2200" dirty="0"/>
          </a:p>
        </p:txBody>
      </p:sp>
      <p:sp>
        <p:nvSpPr>
          <p:cNvPr id="4" name="team-1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8"/>
                </a:solidFill>
              </a:rPr>
              <a:t>[Nama Tim] · [Nama Anggota 1] · [Nama Anggota 2] · [Nama Anggota 3] · M3C 2026</a:t>
            </a:r>
            <a:endParaRPr lang="en-US" sz="1400" dirty="0"/>
          </a:p>
        </p:txBody>
      </p:sp>
      <p:sp>
        <p:nvSpPr>
          <p:cNvPr id="5" name="andon-2"/>
          <p:cNvSpPr/>
          <p:nvPr/>
        </p:nvSpPr>
        <p:spPr>
          <a:xfrm>
            <a:off x="548640" y="128016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andon-num-3"/>
          <p:cNvSpPr txBox="1"/>
          <p:nvPr/>
        </p:nvSpPr>
        <p:spPr>
          <a:xfrm>
            <a:off x="54864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Pesaing 2,5 poin lebih murah setiap tahun, TMMIN 3 poin lebih mahal: selisihnya melebar 5,5 poin per tahun</a:t>
            </a:r>
            <a:endParaRPr lang="en-US" sz="2400" dirty="0"/>
          </a:p>
        </p:txBody>
      </p:sp>
      <p:graphicFrame>
        <p:nvGraphicFramePr>
          <p:cNvPr id="4" name="chart-4" descr=""/>
          <p:cNvGraphicFramePr/>
          <p:nvPr/>
        </p:nvGraphicFramePr>
        <p:xfrm>
          <a:off x="548640" y="1554480"/>
          <a:ext cx="67665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-5"/>
          <p:cNvSpPr txBox="1"/>
          <p:nvPr/>
        </p:nvSpPr>
        <p:spPr>
          <a:xfrm>
            <a:off x="7863840" y="17373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→ 17</a:t>
            </a:r>
            <a:endParaRPr lang="en-US" sz="4000" dirty="0"/>
          </a:p>
        </p:txBody>
      </p:sp>
      <p:sp>
        <p:nvSpPr>
          <p:cNvPr id="6" name="stat-label-6"/>
          <p:cNvSpPr txBox="1"/>
          <p:nvPr/>
        </p:nvSpPr>
        <p:spPr>
          <a:xfrm>
            <a:off x="7863840" y="25146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poin selisih biaya, 2023 → 2025</a:t>
            </a:r>
            <a:endParaRPr lang="en-US" sz="1400" dirty="0"/>
          </a:p>
        </p:txBody>
      </p:sp>
      <p:sp>
        <p:nvSpPr>
          <p:cNvPr id="7" name="stat-7"/>
          <p:cNvSpPr txBox="1"/>
          <p:nvPr/>
        </p:nvSpPr>
        <p:spPr>
          <a:xfrm>
            <a:off x="7863840" y="34290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19%</a:t>
            </a:r>
            <a:endParaRPr lang="en-US" sz="4000" dirty="0"/>
          </a:p>
        </p:txBody>
      </p:sp>
      <p:sp>
        <p:nvSpPr>
          <p:cNvPr id="8" name="stat-label-8"/>
          <p:cNvSpPr txBox="1"/>
          <p:nvPr/>
        </p:nvSpPr>
        <p:spPr>
          <a:xfrm>
            <a:off x="7863840" y="42062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TMMIN lebih mahal per unit hari ini</a:t>
            </a:r>
            <a:endParaRPr lang="en-US" sz="1400" dirty="0"/>
          </a:p>
        </p:txBody>
      </p:sp>
      <p:sp>
        <p:nvSpPr>
          <p:cNvPr id="9" name="note-9"/>
          <p:cNvSpPr txBox="1"/>
          <p:nvPr/>
        </p:nvSpPr>
        <p:spPr>
          <a:xfrm>
            <a:off x="7863840" y="50749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</a:rPr>
              <a:t>Sekitar separuh pelebaran datang dari pesaing yang terus membaik, bukan hanya dari TMMIN yang memburuk</a:t>
            </a:r>
            <a:endParaRPr lang="en-US" sz="1400" dirty="0"/>
          </a:p>
        </p:txBody>
      </p:sp>
      <p:sp>
        <p:nvSpPr>
          <p:cNvPr id="10" name="source-10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Sumber: Exhibit 3 (data dummy); dekomposisi di work/2_diagnosis.md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Ubah cara pabrik belajar, bukan peralatannya: biaya 97–101 pada 2030 (vs 114) dan NPV Rp27–31 M</a:t>
            </a:r>
            <a:endParaRPr lang="en-US" sz="2400" dirty="0"/>
          </a:p>
        </p:txBody>
      </p:sp>
      <p:sp>
        <p:nvSpPr>
          <p:cNvPr id="4" name="card-11"/>
          <p:cNvSpPr/>
          <p:nvPr/>
        </p:nvSpPr>
        <p:spPr>
          <a:xfrm>
            <a:off x="548640" y="1600200"/>
            <a:ext cx="3474720" cy="2331720"/>
          </a:xfrm>
          <a:prstGeom prst="roundRect">
            <a:avLst>
              <a:gd name="adj" fmla="val 3137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5" name="stat-12"/>
          <p:cNvSpPr txBox="1"/>
          <p:nvPr/>
        </p:nvSpPr>
        <p:spPr>
          <a:xfrm>
            <a:off x="777240" y="17830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97–101</a:t>
            </a:r>
            <a:endParaRPr lang="en-US" sz="3400" dirty="0"/>
          </a:p>
        </p:txBody>
      </p:sp>
      <p:sp>
        <p:nvSpPr>
          <p:cNvPr id="6" name="stat-label-13"/>
          <p:cNvSpPr txBox="1"/>
          <p:nvPr/>
        </p:nvSpPr>
        <p:spPr>
          <a:xfrm>
            <a:off x="777240" y="25603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indeks biaya 2030, harga konstan 2025 (hari ini 106; tanpa tindakan 113,9)</a:t>
            </a:r>
            <a:endParaRPr lang="en-US" sz="1400" dirty="0"/>
          </a:p>
        </p:txBody>
      </p:sp>
      <p:sp>
        <p:nvSpPr>
          <p:cNvPr id="7" name="card-14"/>
          <p:cNvSpPr/>
          <p:nvPr/>
        </p:nvSpPr>
        <p:spPr>
          <a:xfrm>
            <a:off x="4297680" y="1600200"/>
            <a:ext cx="3474720" cy="2331720"/>
          </a:xfrm>
          <a:prstGeom prst="roundRect">
            <a:avLst>
              <a:gd name="adj" fmla="val 3137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8" name="stat-15"/>
          <p:cNvSpPr txBox="1"/>
          <p:nvPr/>
        </p:nvSpPr>
        <p:spPr>
          <a:xfrm>
            <a:off x="4526280" y="17830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Rp27–31 M</a:t>
            </a:r>
            <a:endParaRPr lang="en-US" sz="3400" dirty="0"/>
          </a:p>
        </p:txBody>
      </p:sp>
      <p:sp>
        <p:nvSpPr>
          <p:cNvPr id="9" name="stat-label-16"/>
          <p:cNvSpPr txBox="1"/>
          <p:nvPr/>
        </p:nvSpPr>
        <p:spPr>
          <a:xfrm>
            <a:off x="4526280" y="25603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NPV dari Rp80 M; peluang positif 86–94%</a:t>
            </a:r>
            <a:endParaRPr lang="en-US" sz="1400" dirty="0"/>
          </a:p>
        </p:txBody>
      </p:sp>
      <p:sp>
        <p:nvSpPr>
          <p:cNvPr id="10" name="card-17"/>
          <p:cNvSpPr/>
          <p:nvPr/>
        </p:nvSpPr>
        <p:spPr>
          <a:xfrm>
            <a:off x="8046720" y="1600200"/>
            <a:ext cx="3474720" cy="2331720"/>
          </a:xfrm>
          <a:prstGeom prst="roundRect">
            <a:avLst>
              <a:gd name="adj" fmla="val 3137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1" name="stat-18"/>
          <p:cNvSpPr txBox="1"/>
          <p:nvPr/>
        </p:nvSpPr>
        <p:spPr>
          <a:xfrm>
            <a:off x="8275320" y="17830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→ 13,6</a:t>
            </a:r>
            <a:endParaRPr lang="en-US" sz="3400" dirty="0"/>
          </a:p>
        </p:txBody>
      </p:sp>
      <p:sp>
        <p:nvSpPr>
          <p:cNvPr id="12" name="stat-label-19"/>
          <p:cNvSpPr txBox="1"/>
          <p:nvPr/>
        </p:nvSpPr>
        <p:spPr>
          <a:xfrm>
            <a:off x="8275320" y="25603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engineer Software &amp; AI mahir (dari 30); know-how 33% → 64%</a:t>
            </a:r>
            <a:endParaRPr lang="en-US" sz="1400" dirty="0"/>
          </a:p>
        </p:txBody>
      </p:sp>
      <p:sp>
        <p:nvSpPr>
          <p:cNvPr id="13" name="ask-head-20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4A"/>
                </a:solidFill>
              </a:rPr>
              <a:t>Kami meminta empat keputusan kuartal ini</a:t>
            </a:r>
            <a:endParaRPr lang="en-US" sz="1800" dirty="0"/>
          </a:p>
        </p:txBody>
      </p:sp>
      <p:sp>
        <p:nvSpPr>
          <p:cNvPr id="14" name="andon-21"/>
          <p:cNvSpPr/>
          <p:nvPr/>
        </p:nvSpPr>
        <p:spPr>
          <a:xfrm>
            <a:off x="548640" y="470916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andon-num-22"/>
          <p:cNvSpPr txBox="1"/>
          <p:nvPr/>
        </p:nvSpPr>
        <p:spPr>
          <a:xfrm>
            <a:off x="54864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2C"/>
                </a:solidFill>
              </a:rPr>
              <a:t>1</a:t>
            </a:r>
            <a:endParaRPr lang="en-US" sz="1600" dirty="0"/>
          </a:p>
        </p:txBody>
      </p:sp>
      <p:sp>
        <p:nvSpPr>
          <p:cNvPr id="16" name="ask-23"/>
          <p:cNvSpPr txBox="1"/>
          <p:nvPr/>
        </p:nvSpPr>
        <p:spPr>
          <a:xfrm>
            <a:off x="1097280" y="4709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2C"/>
                </a:solidFill>
              </a:rPr>
              <a:t>Rp8 M untuk pilot sealer → inspeksi, mulai Q4 2026</a:t>
            </a:r>
            <a:endParaRPr lang="en-US" sz="1500" dirty="0"/>
          </a:p>
        </p:txBody>
      </p:sp>
      <p:sp>
        <p:nvSpPr>
          <p:cNvPr id="17" name="andon-24"/>
          <p:cNvSpPr/>
          <p:nvPr/>
        </p:nvSpPr>
        <p:spPr>
          <a:xfrm>
            <a:off x="6126480" y="470916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8" name="andon-num-25"/>
          <p:cNvSpPr txBox="1"/>
          <p:nvPr/>
        </p:nvSpPr>
        <p:spPr>
          <a:xfrm>
            <a:off x="612648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2C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ask-26"/>
          <p:cNvSpPr txBox="1"/>
          <p:nvPr/>
        </p:nvSpPr>
        <p:spPr>
          <a:xfrm>
            <a:off x="6675120" y="4709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2C"/>
                </a:solidFill>
              </a:rPr>
              <a:t>Satu pemilik standar data pabrik</a:t>
            </a:r>
            <a:endParaRPr lang="en-US" sz="1500" dirty="0"/>
          </a:p>
        </p:txBody>
      </p:sp>
      <p:sp>
        <p:nvSpPr>
          <p:cNvPr id="20" name="andon-27"/>
          <p:cNvSpPr/>
          <p:nvPr/>
        </p:nvSpPr>
        <p:spPr>
          <a:xfrm>
            <a:off x="548640" y="534924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1" name="andon-num-28"/>
          <p:cNvSpPr txBox="1"/>
          <p:nvPr/>
        </p:nvSpPr>
        <p:spPr>
          <a:xfrm>
            <a:off x="548640" y="5349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2C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ask-29"/>
          <p:cNvSpPr txBox="1"/>
          <p:nvPr/>
        </p:nvSpPr>
        <p:spPr>
          <a:xfrm>
            <a:off x="1097280" y="5349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2C"/>
                </a:solidFill>
              </a:rPr>
              <a:t>Lindungi 30% waktu perbaikan dan kunci waktu yang dibebaskan loop</a:t>
            </a:r>
            <a:endParaRPr lang="en-US" sz="1500" dirty="0"/>
          </a:p>
        </p:txBody>
      </p:sp>
      <p:sp>
        <p:nvSpPr>
          <p:cNvPr id="23" name="andon-30"/>
          <p:cNvSpPr/>
          <p:nvPr/>
        </p:nvSpPr>
        <p:spPr>
          <a:xfrm>
            <a:off x="6126480" y="534924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4" name="andon-num-31"/>
          <p:cNvSpPr txBox="1"/>
          <p:nvPr/>
        </p:nvSpPr>
        <p:spPr>
          <a:xfrm>
            <a:off x="6126480" y="5349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2C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ask-32"/>
          <p:cNvSpPr txBox="1"/>
          <p:nvPr/>
        </p:nvSpPr>
        <p:spPr>
          <a:xfrm>
            <a:off x="6675120" y="5349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2C"/>
                </a:solidFill>
              </a:rPr>
              <a:t>Skalakan hanya lewat gate akhir 2027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Pasar turun 7,2% sementara elektrifikasi naik ke 55–70%: lebih banyak varian di lini yang sama, dengan biaya lebih rendah</a:t>
            </a:r>
            <a:endParaRPr lang="en-US" sz="2400" dirty="0"/>
          </a:p>
        </p:txBody>
      </p:sp>
      <p:sp>
        <p:nvSpPr>
          <p:cNvPr id="4" name="stat-33"/>
          <p:cNvSpPr txBox="1"/>
          <p:nvPr/>
        </p:nvSpPr>
        <p:spPr>
          <a:xfrm>
            <a:off x="548640" y="17373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−7,2%</a:t>
            </a:r>
            <a:endParaRPr lang="en-US" sz="4000" dirty="0"/>
          </a:p>
        </p:txBody>
      </p:sp>
      <p:sp>
        <p:nvSpPr>
          <p:cNvPr id="5" name="stat-label-34"/>
          <p:cNvSpPr txBox="1"/>
          <p:nvPr/>
        </p:nvSpPr>
        <p:spPr>
          <a:xfrm>
            <a:off x="548640" y="2514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wholesales nasional 2025 (865.723 → 803.687 unit)</a:t>
            </a:r>
            <a:endParaRPr lang="en-US" sz="1400" dirty="0"/>
          </a:p>
        </p:txBody>
      </p:sp>
      <p:sp>
        <p:nvSpPr>
          <p:cNvPr id="6" name="stat-35"/>
          <p:cNvSpPr txBox="1"/>
          <p:nvPr/>
        </p:nvSpPr>
        <p:spPr>
          <a:xfrm>
            <a:off x="548640" y="36576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4000" dirty="0"/>
          </a:p>
        </p:txBody>
      </p:sp>
      <p:sp>
        <p:nvSpPr>
          <p:cNvPr id="7" name="stat-label-36"/>
          <p:cNvSpPr txBox="1"/>
          <p:nvPr/>
        </p:nvSpPr>
        <p:spPr>
          <a:xfrm>
            <a:off x="548640" y="44348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utilisasi Karawang I &amp; II (Ex.9): sekitar 75.000 unit kapasitas menganggur</a:t>
            </a:r>
            <a:endParaRPr lang="en-US" sz="1400" dirty="0"/>
          </a:p>
        </p:txBody>
      </p:sp>
      <p:graphicFrame>
        <p:nvGraphicFramePr>
          <p:cNvPr id="8" name="chart-37" descr=""/>
          <p:cNvGraphicFramePr/>
          <p:nvPr/>
        </p:nvGraphicFramePr>
        <p:xfrm>
          <a:off x="4754880" y="1554480"/>
          <a:ext cx="68580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ource-38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Sumber: Exhibit 1, 8, 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Ke-13 indikator internal memburuk dalam dua tahun; tidak ada satu pun yang membaik</a:t>
            </a:r>
            <a:endParaRPr lang="en-US" sz="2400" dirty="0"/>
          </a:p>
        </p:txBody>
      </p:sp>
      <p:graphicFrame>
        <p:nvGraphicFramePr>
          <p:cNvPr id="6" name="table-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49808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097280"/>
                <a:gridCol w="109728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Indikator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Indeks biaya konversi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memburuk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 (indeks)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memburuk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Unplanned downtime (indeks)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memburuk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Cacat lolos ke hilir (indeks)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memburuk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Waktu non-value-added operator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memburuk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Bulan modifikasi per varian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memburuk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Waktu engineer untuk perbaikan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memburuk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 terimplementasi per engineer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Know-how terdokumentasi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memburuk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Proses bergantung 1–2 senior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memburuk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rd-40"/>
          <p:cNvSpPr/>
          <p:nvPr/>
        </p:nvSpPr>
        <p:spPr>
          <a:xfrm>
            <a:off x="8412480" y="1508760"/>
            <a:ext cx="3200400" cy="4343400"/>
          </a:xfrm>
          <a:prstGeom prst="roundRect">
            <a:avLst>
              <a:gd name="adj" fmla="val 2286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6" name="stat-41"/>
          <p:cNvSpPr txBox="1"/>
          <p:nvPr/>
        </p:nvSpPr>
        <p:spPr>
          <a:xfrm>
            <a:off x="8641080" y="17373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/ 13</a:t>
            </a:r>
            <a:endParaRPr lang="en-US" sz="4000" dirty="0"/>
          </a:p>
        </p:txBody>
      </p:sp>
      <p:sp>
        <p:nvSpPr>
          <p:cNvPr id="7" name="stat-label-42"/>
          <p:cNvSpPr txBox="1"/>
          <p:nvPr/>
        </p:nvSpPr>
        <p:spPr>
          <a:xfrm>
            <a:off x="8641080" y="2514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indikator dengan data 2023 dan 2025 memburuk (Ex.3, 4, 6A); tabel menampilkan 10</a:t>
            </a:r>
            <a:endParaRPr lang="en-US" sz="1400" dirty="0"/>
          </a:p>
        </p:txBody>
      </p:sp>
      <p:sp>
        <p:nvSpPr>
          <p:cNvPr id="8" name="note-43"/>
          <p:cNvSpPr txBox="1"/>
          <p:nvPr/>
        </p:nvSpPr>
        <p:spPr>
          <a:xfrm>
            <a:off x="8641080" y="36576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Tiga lainnya: waktu rutin engineer 62% → 65%, ide diajukan 3,1 → 2,4, engineer baru mandiri 14 → 15 bulan</a:t>
            </a:r>
            <a:endParaRPr lang="en-US" sz="1400" dirty="0"/>
          </a:p>
        </p:txBody>
      </p:sp>
      <p:sp>
        <p:nvSpPr>
          <p:cNvPr id="9" name="source-44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Sumber: Exhibit 3, 4, 6A; ide terimplementasi = ide per engineer × persen diimplementasikan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Kembali ke kinerja 2023 hanya menutup 11–19% selisih: masalahnya laju perbaikan, bukan kerusakan sesaat</a:t>
            </a:r>
            <a:endParaRPr lang="en-US" sz="2400" dirty="0"/>
          </a:p>
        </p:txBody>
      </p:sp>
      <p:graphicFrame>
        <p:nvGraphicFramePr>
          <p:cNvPr id="4" name="chart-45" descr=""/>
          <p:cNvGraphicFramePr/>
          <p:nvPr/>
        </p:nvGraphicFramePr>
        <p:xfrm>
          <a:off x="548640" y="1554480"/>
          <a:ext cx="73152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46"/>
          <p:cNvSpPr/>
          <p:nvPr/>
        </p:nvSpPr>
        <p:spPr>
          <a:xfrm>
            <a:off x="8229600" y="155448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6" name="stat-47"/>
          <p:cNvSpPr txBox="1"/>
          <p:nvPr/>
        </p:nvSpPr>
        <p:spPr>
          <a:xfrm>
            <a:off x="8458200" y="1783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1,8–3,3</a:t>
            </a:r>
            <a:endParaRPr lang="en-US" sz="4000" dirty="0"/>
          </a:p>
        </p:txBody>
      </p:sp>
      <p:sp>
        <p:nvSpPr>
          <p:cNvPr id="7" name="stat-label-48"/>
          <p:cNvSpPr txBox="1"/>
          <p:nvPr/>
        </p:nvSpPr>
        <p:spPr>
          <a:xfrm>
            <a:off x="8458200" y="2560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poin dari 17 yang berasal dari kinerja yang memburuk (scrap, NVA, downtime)</a:t>
            </a:r>
            <a:endParaRPr lang="en-US" sz="1400" dirty="0"/>
          </a:p>
        </p:txBody>
      </p:sp>
      <p:sp>
        <p:nvSpPr>
          <p:cNvPr id="8" name="note-49"/>
          <p:cNvSpPr txBox="1"/>
          <p:nvPr/>
        </p:nvSpPr>
        <p:spPr>
          <a:xfrm>
            <a:off x="8458200" y="393192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3D4A"/>
                </a:solidFill>
              </a:rPr>
              <a:t>Memperbaiki yang rusak tidak cukup. Yang harus berubah adalah berapa poin pabrik membaik setiap tahun.</a:t>
            </a:r>
            <a:endParaRPr lang="en-US" sz="1500" dirty="0"/>
          </a:p>
        </p:txBody>
      </p:sp>
      <p:sp>
        <p:nvSpPr>
          <p:cNvPr id="9" name="source-50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Sumber: Exhibit 3, 4, 9; porsi biaya konversi adalah asumsi tim (work/2_diagnosis.md §3.2)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Pabrik memecahkan masalah yang sama berulang kali karena sinyal dan pelajaran tidak punya jalur kembali</a:t>
            </a:r>
            <a:endParaRPr lang="en-US" sz="2400" dirty="0"/>
          </a:p>
        </p:txBody>
      </p:sp>
      <p:sp>
        <p:nvSpPr>
          <p:cNvPr id="4" name="root-51"/>
          <p:cNvSpPr txBox="1"/>
          <p:nvPr/>
        </p:nvSpPr>
        <p:spPr>
          <a:xfrm>
            <a:off x="548640" y="1463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B262C"/>
                </a:solidFill>
              </a:rPr>
              <a:t>Akar masalah: sinyal masalah dan pelajaran perbaikan tidak kembali ke proses penyebab, ke standar bersama, maupun ke varian berikutnya. Akibatnya laju belajar pabrik kalah dari pesaing.</a:t>
            </a:r>
            <a:endParaRPr lang="en-US" sz="1700" dirty="0"/>
          </a:p>
        </p:txBody>
      </p:sp>
      <p:sp>
        <p:nvSpPr>
          <p:cNvPr id="5" name="card-52"/>
          <p:cNvSpPr/>
          <p:nvPr/>
        </p:nvSpPr>
        <p:spPr>
          <a:xfrm>
            <a:off x="548640" y="256032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6" name="andon-53"/>
          <p:cNvSpPr/>
          <p:nvPr/>
        </p:nvSpPr>
        <p:spPr>
          <a:xfrm>
            <a:off x="777240" y="274320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andon-num-54"/>
          <p:cNvSpPr txBox="1"/>
          <p:nvPr/>
        </p:nvSpPr>
        <p:spPr>
          <a:xfrm>
            <a:off x="77724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2C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h-55"/>
          <p:cNvSpPr txBox="1"/>
          <p:nvPr/>
        </p:nvSpPr>
        <p:spPr>
          <a:xfrm>
            <a:off x="1325880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4A"/>
                </a:solidFill>
              </a:rPr>
              <a:t>Ke proses penyebab</a:t>
            </a:r>
            <a:endParaRPr lang="en-US" sz="1700" dirty="0"/>
          </a:p>
        </p:txBody>
      </p:sp>
      <p:sp>
        <p:nvSpPr>
          <p:cNvPr id="9" name="a-56"/>
          <p:cNvSpPr txBox="1"/>
          <p:nvPr/>
        </p:nvSpPr>
        <p:spPr>
          <a:xfrm>
            <a:off x="777240" y="3337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Inspeksi Level 1 tidak mengirim hasil ke hulu; sealer tanpa umpan balik otomatis</a:t>
            </a:r>
            <a:endParaRPr lang="en-US" sz="1400" dirty="0"/>
          </a:p>
        </p:txBody>
      </p:sp>
      <p:sp>
        <p:nvSpPr>
          <p:cNvPr id="10" name="b-57"/>
          <p:cNvSpPr txBox="1"/>
          <p:nvPr/>
        </p:nvSpPr>
        <p:spPr>
          <a:xfrm>
            <a:off x="777240" y="45720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</a:rPr>
              <a:t>Scrap +8%, cacat lolos hanya +3%: cacat tertangkap, tetapi terlambat</a:t>
            </a:r>
            <a:endParaRPr lang="en-US" sz="1400" dirty="0"/>
          </a:p>
        </p:txBody>
      </p:sp>
      <p:sp>
        <p:nvSpPr>
          <p:cNvPr id="11" name="card-58"/>
          <p:cNvSpPr/>
          <p:nvPr/>
        </p:nvSpPr>
        <p:spPr>
          <a:xfrm>
            <a:off x="4297680" y="256032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2" name="andon-59"/>
          <p:cNvSpPr/>
          <p:nvPr/>
        </p:nvSpPr>
        <p:spPr>
          <a:xfrm>
            <a:off x="4526280" y="274320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andon-num-60"/>
          <p:cNvSpPr txBox="1"/>
          <p:nvPr/>
        </p:nvSpPr>
        <p:spPr>
          <a:xfrm>
            <a:off x="452628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2C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h-61"/>
          <p:cNvSpPr txBox="1"/>
          <p:nvPr/>
        </p:nvSpPr>
        <p:spPr>
          <a:xfrm>
            <a:off x="5074920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4A"/>
                </a:solidFill>
              </a:rPr>
              <a:t>Ke standar bersama</a:t>
            </a:r>
            <a:endParaRPr lang="en-US" sz="1700" dirty="0"/>
          </a:p>
        </p:txBody>
      </p:sp>
      <p:sp>
        <p:nvSpPr>
          <p:cNvPr id="15" name="a-62"/>
          <p:cNvSpPr txBox="1"/>
          <p:nvPr/>
        </p:nvSpPr>
        <p:spPr>
          <a:xfrm>
            <a:off x="4526280" y="3337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48% proses kritis bergantung pada 1–2 senior; 71% berbagi lewat coaching informal</a:t>
            </a:r>
            <a:endParaRPr lang="en-US" sz="1400" dirty="0"/>
          </a:p>
        </p:txBody>
      </p:sp>
      <p:sp>
        <p:nvSpPr>
          <p:cNvPr id="16" name="b-63"/>
          <p:cNvSpPr txBox="1"/>
          <p:nvPr/>
        </p:nvSpPr>
        <p:spPr>
          <a:xfrm>
            <a:off x="4526280" y="45720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</a:rPr>
              <a:t>65% waktu engineer memadamkan masalah yang sama; ide terimplementasi −38%</a:t>
            </a:r>
            <a:endParaRPr lang="en-US" sz="1400" dirty="0"/>
          </a:p>
        </p:txBody>
      </p:sp>
      <p:sp>
        <p:nvSpPr>
          <p:cNvPr id="17" name="card-64"/>
          <p:cNvSpPr/>
          <p:nvPr/>
        </p:nvSpPr>
        <p:spPr>
          <a:xfrm>
            <a:off x="8046720" y="256032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8" name="andon-65"/>
          <p:cNvSpPr/>
          <p:nvPr/>
        </p:nvSpPr>
        <p:spPr>
          <a:xfrm>
            <a:off x="8275320" y="274320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andon-num-66"/>
          <p:cNvSpPr txBox="1"/>
          <p:nvPr/>
        </p:nvSpPr>
        <p:spPr>
          <a:xfrm>
            <a:off x="827532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2C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h-67"/>
          <p:cNvSpPr txBox="1"/>
          <p:nvPr/>
        </p:nvSpPr>
        <p:spPr>
          <a:xfrm>
            <a:off x="8823960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4A"/>
                </a:solidFill>
              </a:rPr>
              <a:t>Ke varian berikutnya</a:t>
            </a:r>
            <a:endParaRPr lang="en-US" sz="1700" dirty="0"/>
          </a:p>
        </p:txBody>
      </p:sp>
      <p:sp>
        <p:nvSpPr>
          <p:cNvPr id="21" name="a-68"/>
          <p:cNvSpPr txBox="1"/>
          <p:nvPr/>
        </p:nvSpPr>
        <p:spPr>
          <a:xfrm>
            <a:off x="8275320" y="3337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Data Level 1; peralatan point-to-point tanpa standar antarmuka</a:t>
            </a:r>
            <a:endParaRPr lang="en-US" sz="1400" dirty="0"/>
          </a:p>
        </p:txBody>
      </p:sp>
      <p:sp>
        <p:nvSpPr>
          <p:cNvPr id="22" name="b-69"/>
          <p:cNvSpPr txBox="1"/>
          <p:nvPr/>
        </p:nvSpPr>
        <p:spPr>
          <a:xfrm>
            <a:off x="8275320" y="45720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</a:rPr>
              <a:t>Setiap varian baru sekitar 9 bulan pengerjaan ulang</a:t>
            </a:r>
            <a:endParaRPr lang="en-US" sz="1400" dirty="0"/>
          </a:p>
        </p:txBody>
      </p:sp>
      <p:sp>
        <p:nvSpPr>
          <p:cNvPr id="23" name="source-70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Sumber: Exhibit 4, 5, 6A, 6B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Celah terbesar ada di antara proses: inspeksi dan integrasi data masuk tiga besar di 27 dari 27 kombinasi bobot</a:t>
            </a:r>
            <a:endParaRPr lang="en-US" sz="2400" dirty="0"/>
          </a:p>
        </p:txBody>
      </p:sp>
      <p:graphicFrame>
        <p:nvGraphicFramePr>
          <p:cNvPr id="9" name="table-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914400"/>
                <a:gridCol w="1097280"/>
                <a:gridCol w="1188720"/>
                <a:gridCol w="1463040"/>
                <a:gridCol w="109728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Biaya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Kualitas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Fleksibilitas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Tiga besar (27 bobot)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inspection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A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integration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A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assembly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21/27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Sealer (pilot)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Intralogistics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 &amp; system integration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</a:tbl>
          </a:graphicData>
        </a:graphic>
      </p:graphicFrame>
      <p:sp>
        <p:nvSpPr>
          <p:cNvPr id="5" name="note-72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D4A"/>
                </a:solidFill>
              </a:rPr>
              <a:t>Dua teratas bukan proses produksi: keduanya titik temu tempat sinyal seharusnya berbalik ke hulu</a:t>
            </a:r>
            <a:endParaRPr lang="en-US" sz="1600" dirty="0"/>
          </a:p>
        </p:txBody>
      </p:sp>
      <p:sp>
        <p:nvSpPr>
          <p:cNvPr id="6" name="source-73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Sumber: Exhibit 5; penilaian dampak oleh tim (work/2_diagnosis.md §4)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Pada 2030, keunggulan TMMIN adalah pabrik yang belajar lebih cepat daripada yang bisa ditiru pesaing</a:t>
            </a:r>
            <a:endParaRPr lang="en-US" sz="2400" dirty="0"/>
          </a:p>
        </p:txBody>
      </p:sp>
      <p:sp>
        <p:nvSpPr>
          <p:cNvPr id="4" name="card-74"/>
          <p:cNvSpPr/>
          <p:nvPr/>
        </p:nvSpPr>
        <p:spPr>
          <a:xfrm>
            <a:off x="548640" y="164592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5" name="andon-75"/>
          <p:cNvSpPr/>
          <p:nvPr/>
        </p:nvSpPr>
        <p:spPr>
          <a:xfrm>
            <a:off x="777240" y="187452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andon-num-76"/>
          <p:cNvSpPr txBox="1"/>
          <p:nvPr/>
        </p:nvSpPr>
        <p:spPr>
          <a:xfrm>
            <a:off x="77724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2C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h-77"/>
          <p:cNvSpPr txBox="1"/>
          <p:nvPr/>
        </p:nvSpPr>
        <p:spPr>
          <a:xfrm>
            <a:off x="132588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4A"/>
                </a:solidFill>
              </a:rPr>
              <a:t>Kecepatan</a:t>
            </a:r>
            <a:endParaRPr lang="en-US" sz="1800" dirty="0"/>
          </a:p>
        </p:txBody>
      </p:sp>
      <p:sp>
        <p:nvSpPr>
          <p:cNvPr id="8" name="stat-78"/>
          <p:cNvSpPr txBox="1"/>
          <p:nvPr/>
        </p:nvSpPr>
        <p:spPr>
          <a:xfrm>
            <a:off x="777240" y="2651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7,2 bulan</a:t>
            </a:r>
            <a:endParaRPr lang="en-US" sz="3600" dirty="0"/>
          </a:p>
        </p:txBody>
      </p:sp>
      <p:sp>
        <p:nvSpPr>
          <p:cNvPr id="9" name="stat-label-79"/>
          <p:cNvSpPr txBox="1"/>
          <p:nvPr/>
        </p:nvSpPr>
        <p:spPr>
          <a:xfrm>
            <a:off x="777240" y="3429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per varian baru pada 2030, dibanding 10,4 bila kompleksitas naik tanpa tindakan</a:t>
            </a:r>
            <a:endParaRPr lang="en-US" sz="1400" dirty="0"/>
          </a:p>
        </p:txBody>
      </p:sp>
      <p:sp>
        <p:nvSpPr>
          <p:cNvPr id="10" name="card-80"/>
          <p:cNvSpPr/>
          <p:nvPr/>
        </p:nvSpPr>
        <p:spPr>
          <a:xfrm>
            <a:off x="4297680" y="164592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1" name="andon-81"/>
          <p:cNvSpPr/>
          <p:nvPr/>
        </p:nvSpPr>
        <p:spPr>
          <a:xfrm>
            <a:off x="4526280" y="187452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2" name="andon-num-82"/>
          <p:cNvSpPr txBox="1"/>
          <p:nvPr/>
        </p:nvSpPr>
        <p:spPr>
          <a:xfrm>
            <a:off x="452628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2C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h-83"/>
          <p:cNvSpPr txBox="1"/>
          <p:nvPr/>
        </p:nvSpPr>
        <p:spPr>
          <a:xfrm>
            <a:off x="507492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4A"/>
                </a:solidFill>
              </a:rPr>
              <a:t>Pengetahuan</a:t>
            </a:r>
            <a:endParaRPr lang="en-US" sz="1800" dirty="0"/>
          </a:p>
        </p:txBody>
      </p:sp>
      <p:sp>
        <p:nvSpPr>
          <p:cNvPr id="14" name="stat-84"/>
          <p:cNvSpPr txBox="1"/>
          <p:nvPr/>
        </p:nvSpPr>
        <p:spPr>
          <a:xfrm>
            <a:off x="4526280" y="2651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 → 64%</a:t>
            </a:r>
            <a:endParaRPr lang="en-US" sz="3600" dirty="0"/>
          </a:p>
        </p:txBody>
      </p:sp>
      <p:sp>
        <p:nvSpPr>
          <p:cNvPr id="15" name="stat-label-85"/>
          <p:cNvSpPr txBox="1"/>
          <p:nvPr/>
        </p:nvSpPr>
        <p:spPr>
          <a:xfrm>
            <a:off x="4526280" y="3429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know-how kritis terdokumentasi; proses yang bergantung pada 1–2 senior 48% → 26%</a:t>
            </a:r>
            <a:endParaRPr lang="en-US" sz="1400" dirty="0"/>
          </a:p>
        </p:txBody>
      </p:sp>
      <p:sp>
        <p:nvSpPr>
          <p:cNvPr id="16" name="card-86"/>
          <p:cNvSpPr/>
          <p:nvPr/>
        </p:nvSpPr>
        <p:spPr>
          <a:xfrm>
            <a:off x="8046720" y="164592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7" name="andon-87"/>
          <p:cNvSpPr/>
          <p:nvPr/>
        </p:nvSpPr>
        <p:spPr>
          <a:xfrm>
            <a:off x="8275320" y="187452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8" name="andon-num-88"/>
          <p:cNvSpPr txBox="1"/>
          <p:nvPr/>
        </p:nvSpPr>
        <p:spPr>
          <a:xfrm>
            <a:off x="827532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2C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h-89"/>
          <p:cNvSpPr txBox="1"/>
          <p:nvPr/>
        </p:nvSpPr>
        <p:spPr>
          <a:xfrm>
            <a:off x="882396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4A"/>
                </a:solidFill>
              </a:rPr>
              <a:t>Orang</a:t>
            </a:r>
            <a:endParaRPr lang="en-US" sz="1800" dirty="0"/>
          </a:p>
        </p:txBody>
      </p:sp>
      <p:sp>
        <p:nvSpPr>
          <p:cNvPr id="20" name="stat-90"/>
          <p:cNvSpPr txBox="1"/>
          <p:nvPr/>
        </p:nvSpPr>
        <p:spPr>
          <a:xfrm>
            <a:off x="8275320" y="2651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 → 41%</a:t>
            </a:r>
            <a:endParaRPr lang="en-US" sz="3600" dirty="0"/>
          </a:p>
        </p:txBody>
      </p:sp>
      <p:sp>
        <p:nvSpPr>
          <p:cNvPr id="21" name="stat-label-91"/>
          <p:cNvSpPr txBox="1"/>
          <p:nvPr/>
        </p:nvSpPr>
        <p:spPr>
          <a:xfrm>
            <a:off x="8275320" y="3429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waktu engineer untuk perbaikan; operator membangun alat dan menyumbang ide</a:t>
            </a:r>
            <a:endParaRPr lang="en-US" sz="1400" dirty="0"/>
          </a:p>
        </p:txBody>
      </p:sp>
      <p:sp>
        <p:nvSpPr>
          <p:cNvPr id="22" name="source-92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Sumber: model/sd_model.py, skenario CLK v2; baseline Exhibit 4, 6A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Closed-Loop Kaizen: tiga loop dengan manusia di pusat, ditambah waktu perbaikan yang dilindungi</a:t>
            </a:r>
            <a:endParaRPr lang="en-US" sz="2400" dirty="0"/>
          </a:p>
        </p:txBody>
      </p:sp>
      <p:sp>
        <p:nvSpPr>
          <p:cNvPr id="4" name="loop-93"/>
          <p:cNvSpPr/>
          <p:nvPr/>
        </p:nvSpPr>
        <p:spPr>
          <a:xfrm>
            <a:off x="1371600" y="1554480"/>
            <a:ext cx="1828800" cy="1828800"/>
          </a:xfrm>
          <a:prstGeom prst="ellipse">
            <a:avLst/>
          </a:prstGeom>
          <a:solidFill>
            <a:srgbClr val="EEF3F4"/>
          </a:solidFill>
          <a:ln w="25400">
            <a:solidFill>
              <a:srgbClr val="0F7B8A"/>
            </a:solidFill>
            <a:prstDash val="solid"/>
          </a:ln>
        </p:spPr>
      </p:sp>
      <p:sp>
        <p:nvSpPr>
          <p:cNvPr id="5" name="loop-t-94"/>
          <p:cNvSpPr txBox="1"/>
          <p:nvPr/>
        </p:nvSpPr>
        <p:spPr>
          <a:xfrm>
            <a:off x="1371600" y="1554480"/>
            <a:ext cx="1828800" cy="1828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4A"/>
                </a:solidFill>
              </a:rPr>
              <a:t>Loop kualitas</a:t>
            </a:r>
            <a:endParaRPr lang="en-US" sz="1500" dirty="0"/>
          </a:p>
        </p:txBody>
      </p:sp>
      <p:sp>
        <p:nvSpPr>
          <p:cNvPr id="6" name="loop-d-95"/>
          <p:cNvSpPr txBox="1"/>
          <p:nvPr/>
        </p:nvSpPr>
        <p:spPr>
          <a:xfrm>
            <a:off x="548640" y="3520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Jidoka: abnormalitas kembali ke proses penyebab dalam hitungan menit</a:t>
            </a:r>
            <a:endParaRPr lang="en-US" sz="1400" dirty="0"/>
          </a:p>
        </p:txBody>
      </p:sp>
      <p:sp>
        <p:nvSpPr>
          <p:cNvPr id="7" name="loop-96"/>
          <p:cNvSpPr/>
          <p:nvPr/>
        </p:nvSpPr>
        <p:spPr>
          <a:xfrm>
            <a:off x="5120640" y="1554480"/>
            <a:ext cx="1828800" cy="1828800"/>
          </a:xfrm>
          <a:prstGeom prst="ellipse">
            <a:avLst/>
          </a:prstGeom>
          <a:solidFill>
            <a:srgbClr val="EEF3F4"/>
          </a:solidFill>
          <a:ln w="25400">
            <a:solidFill>
              <a:srgbClr val="0F7B8A"/>
            </a:solidFill>
            <a:prstDash val="solid"/>
          </a:ln>
        </p:spPr>
      </p:sp>
      <p:sp>
        <p:nvSpPr>
          <p:cNvPr id="8" name="loop-t-97"/>
          <p:cNvSpPr txBox="1"/>
          <p:nvPr/>
        </p:nvSpPr>
        <p:spPr>
          <a:xfrm>
            <a:off x="5120640" y="1554480"/>
            <a:ext cx="1828800" cy="1828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4A"/>
                </a:solidFill>
              </a:rPr>
              <a:t>Loop data &amp; peralatan</a:t>
            </a:r>
            <a:endParaRPr lang="en-US" sz="1500" dirty="0"/>
          </a:p>
        </p:txBody>
      </p:sp>
      <p:sp>
        <p:nvSpPr>
          <p:cNvPr id="9" name="loop-d-98"/>
          <p:cNvSpPr txBox="1"/>
          <p:nvPr/>
        </p:nvSpPr>
        <p:spPr>
          <a:xfrm>
            <a:off x="4297680" y="3520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Standardized work: satu standar antarmuka; varian baru menjadi konfigurasi</a:t>
            </a:r>
            <a:endParaRPr lang="en-US" sz="1400" dirty="0"/>
          </a:p>
        </p:txBody>
      </p:sp>
      <p:sp>
        <p:nvSpPr>
          <p:cNvPr id="10" name="loop-99"/>
          <p:cNvSpPr/>
          <p:nvPr/>
        </p:nvSpPr>
        <p:spPr>
          <a:xfrm>
            <a:off x="8869680" y="1554480"/>
            <a:ext cx="1828800" cy="1828800"/>
          </a:xfrm>
          <a:prstGeom prst="ellipse">
            <a:avLst/>
          </a:prstGeom>
          <a:solidFill>
            <a:srgbClr val="EEF3F4"/>
          </a:solidFill>
          <a:ln w="25400">
            <a:solidFill>
              <a:srgbClr val="0F7B8A"/>
            </a:solidFill>
            <a:prstDash val="solid"/>
          </a:ln>
        </p:spPr>
      </p:sp>
      <p:sp>
        <p:nvSpPr>
          <p:cNvPr id="11" name="loop-t-100"/>
          <p:cNvSpPr txBox="1"/>
          <p:nvPr/>
        </p:nvSpPr>
        <p:spPr>
          <a:xfrm>
            <a:off x="8869680" y="1554480"/>
            <a:ext cx="1828800" cy="1828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4A"/>
                </a:solidFill>
              </a:rPr>
              <a:t>Loop manusia &amp; pengetahuan</a:t>
            </a:r>
            <a:endParaRPr lang="en-US" sz="1500" dirty="0"/>
          </a:p>
        </p:txBody>
      </p:sp>
      <p:sp>
        <p:nvSpPr>
          <p:cNvPr id="12" name="loop-d-101"/>
          <p:cNvSpPr txBox="1"/>
          <p:nvPr/>
        </p:nvSpPr>
        <p:spPr>
          <a:xfrm>
            <a:off x="8046720" y="3520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Kaizen &amp; yokoten: alat buatan sendiri, kanal ide, know-how senior tertangkap</a:t>
            </a:r>
            <a:endParaRPr lang="en-US" sz="1400" dirty="0"/>
          </a:p>
        </p:txBody>
      </p:sp>
      <p:sp>
        <p:nvSpPr>
          <p:cNvPr id="13" name="card-102"/>
          <p:cNvSpPr/>
          <p:nvPr/>
        </p:nvSpPr>
        <p:spPr>
          <a:xfrm>
            <a:off x="548640" y="46177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0F3D4A"/>
          </a:solidFill>
          <a:ln w="12700">
            <a:solidFill>
              <a:srgbClr val="0F3D4A"/>
            </a:solidFill>
            <a:prstDash val="solid"/>
          </a:ln>
        </p:spPr>
      </p:sp>
      <p:sp>
        <p:nvSpPr>
          <p:cNvPr id="14" name="andon-103"/>
          <p:cNvSpPr/>
          <p:nvPr/>
        </p:nvSpPr>
        <p:spPr>
          <a:xfrm>
            <a:off x="822960" y="502920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andon-num-104"/>
          <p:cNvSpPr txBox="1"/>
          <p:nvPr/>
        </p:nvSpPr>
        <p:spPr>
          <a:xfrm>
            <a:off x="82296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6" name="band-105"/>
          <p:cNvSpPr txBox="1"/>
          <p:nvPr/>
        </p:nvSpPr>
        <p:spPr>
          <a:xfrm>
            <a:off x="1463040" y="470916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Orang TMMIN di pusat: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30% waktu perbaikan dilindungi, setiap jam yang dibebaskan loop dikunci untuk perbaikan, dan pabrik dikelola dengan target laju belajar (poin indeks per tahun)</a:t>
            </a:r>
            <a:endParaRPr lang="en-US" sz="1600" dirty="0"/>
          </a:p>
        </p:txBody>
      </p:sp>
      <p:sp>
        <p:nvSpPr>
          <p:cNvPr id="17" name="source-106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Sumber: work/3_options.md, work/4_scoring.md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siklus di sealer: deteksi, rutekan, bertindak, belajar, standarkan. Hari ini langkah 2, 4, dan 5 tidak ada</a:t>
            </a:r>
            <a:endParaRPr lang="en-US" sz="2400" dirty="0"/>
          </a:p>
        </p:txBody>
      </p:sp>
      <p:sp>
        <p:nvSpPr>
          <p:cNvPr id="4" name="card-107"/>
          <p:cNvSpPr/>
          <p:nvPr/>
        </p:nvSpPr>
        <p:spPr>
          <a:xfrm>
            <a:off x="548640" y="1737360"/>
            <a:ext cx="2057400" cy="3657600"/>
          </a:xfrm>
          <a:prstGeom prst="roundRect">
            <a:avLst>
              <a:gd name="adj" fmla="val 3556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5" name="andon-108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andon-num-109"/>
          <p:cNvSpPr txBox="1"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2C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h-110"/>
          <p:cNvSpPr txBox="1"/>
          <p:nvPr/>
        </p:nvSpPr>
        <p:spPr>
          <a:xfrm>
            <a:off x="73152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4A"/>
                </a:solidFill>
              </a:rPr>
              <a:t>Deteksi</a:t>
            </a:r>
            <a:endParaRPr lang="en-US" sz="1800" dirty="0"/>
          </a:p>
        </p:txBody>
      </p:sp>
      <p:sp>
        <p:nvSpPr>
          <p:cNvPr id="8" name="t-111"/>
          <p:cNvSpPr txBox="1"/>
          <p:nvPr/>
        </p:nvSpPr>
        <p:spPr>
          <a:xfrm>
            <a:off x="731520" y="30175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Kamera, sensor, atau operator menemukan bead sealer yang terlewat</a:t>
            </a:r>
            <a:endParaRPr lang="en-US" sz="1400" dirty="0"/>
          </a:p>
        </p:txBody>
      </p:sp>
      <p:sp>
        <p:nvSpPr>
          <p:cNvPr id="9" name="state-112"/>
          <p:cNvSpPr txBox="1"/>
          <p:nvPr/>
        </p:nvSpPr>
        <p:spPr>
          <a:xfrm>
            <a:off x="731520" y="4846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770"/>
                </a:solidFill>
              </a:rPr>
              <a:t>Sebagian ada</a:t>
            </a:r>
            <a:endParaRPr lang="en-US" sz="1300" dirty="0"/>
          </a:p>
        </p:txBody>
      </p:sp>
      <p:sp>
        <p:nvSpPr>
          <p:cNvPr id="10" name="card-113"/>
          <p:cNvSpPr/>
          <p:nvPr/>
        </p:nvSpPr>
        <p:spPr>
          <a:xfrm>
            <a:off x="2788920" y="1737360"/>
            <a:ext cx="2057400" cy="3657600"/>
          </a:xfrm>
          <a:prstGeom prst="roundRect">
            <a:avLst>
              <a:gd name="adj" fmla="val 3556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11" name="andon-114"/>
          <p:cNvSpPr/>
          <p:nvPr/>
        </p:nvSpPr>
        <p:spPr>
          <a:xfrm>
            <a:off x="2971800" y="192024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2" name="andon-num-115"/>
          <p:cNvSpPr txBox="1"/>
          <p:nvPr/>
        </p:nvSpPr>
        <p:spPr>
          <a:xfrm>
            <a:off x="29718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2C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h-116"/>
          <p:cNvSpPr txBox="1"/>
          <p:nvPr/>
        </p:nvSpPr>
        <p:spPr>
          <a:xfrm>
            <a:off x="297180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4A"/>
                </a:solidFill>
              </a:rPr>
              <a:t>Rutekan</a:t>
            </a:r>
            <a:endParaRPr lang="en-US" sz="1800" dirty="0"/>
          </a:p>
        </p:txBody>
      </p:sp>
      <p:sp>
        <p:nvSpPr>
          <p:cNvPr id="14" name="t-117"/>
          <p:cNvSpPr txBox="1"/>
          <p:nvPr/>
        </p:nvSpPr>
        <p:spPr>
          <a:xfrm>
            <a:off x="2971800" y="30175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Standar data mengirim sinyal ke stasiun sealer dalam hitungan detik</a:t>
            </a:r>
            <a:endParaRPr lang="en-US" sz="1400" dirty="0"/>
          </a:p>
        </p:txBody>
      </p:sp>
      <p:sp>
        <p:nvSpPr>
          <p:cNvPr id="15" name="state-118"/>
          <p:cNvSpPr txBox="1"/>
          <p:nvPr/>
        </p:nvSpPr>
        <p:spPr>
          <a:xfrm>
            <a:off x="2971800" y="4846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</a:rPr>
              <a:t>Hilang hari ini</a:t>
            </a:r>
            <a:endParaRPr lang="en-US" sz="1300" dirty="0"/>
          </a:p>
        </p:txBody>
      </p:sp>
      <p:sp>
        <p:nvSpPr>
          <p:cNvPr id="16" name="card-119"/>
          <p:cNvSpPr/>
          <p:nvPr/>
        </p:nvSpPr>
        <p:spPr>
          <a:xfrm>
            <a:off x="5029200" y="1737360"/>
            <a:ext cx="2057400" cy="3657600"/>
          </a:xfrm>
          <a:prstGeom prst="roundRect">
            <a:avLst>
              <a:gd name="adj" fmla="val 3556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7" name="andon-120"/>
          <p:cNvSpPr/>
          <p:nvPr/>
        </p:nvSpPr>
        <p:spPr>
          <a:xfrm>
            <a:off x="5212080" y="192024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8" name="andon-num-121"/>
          <p:cNvSpPr txBox="1"/>
          <p:nvPr/>
        </p:nvSpPr>
        <p:spPr>
          <a:xfrm>
            <a:off x="5212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2C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h-122"/>
          <p:cNvSpPr txBox="1"/>
          <p:nvPr/>
        </p:nvSpPr>
        <p:spPr>
          <a:xfrm>
            <a:off x="521208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4A"/>
                </a:solidFill>
              </a:rPr>
              <a:t>Bertindak</a:t>
            </a:r>
            <a:endParaRPr lang="en-US" sz="1800" dirty="0"/>
          </a:p>
        </p:txBody>
      </p:sp>
      <p:sp>
        <p:nvSpPr>
          <p:cNvPr id="20" name="t-123"/>
          <p:cNvSpPr txBox="1"/>
          <p:nvPr/>
        </p:nvSpPr>
        <p:spPr>
          <a:xfrm>
            <a:off x="5212080" y="30175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Operator stop, koreksi, konfirmasi: jidoka di stasiun</a:t>
            </a:r>
            <a:endParaRPr lang="en-US" sz="1400" dirty="0"/>
          </a:p>
        </p:txBody>
      </p:sp>
      <p:sp>
        <p:nvSpPr>
          <p:cNvPr id="21" name="state-124"/>
          <p:cNvSpPr txBox="1"/>
          <p:nvPr/>
        </p:nvSpPr>
        <p:spPr>
          <a:xfrm>
            <a:off x="5212080" y="4846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770"/>
                </a:solidFill>
              </a:rPr>
              <a:t>Ada, tetapi terlambat</a:t>
            </a:r>
            <a:endParaRPr lang="en-US" sz="1300" dirty="0"/>
          </a:p>
        </p:txBody>
      </p:sp>
      <p:sp>
        <p:nvSpPr>
          <p:cNvPr id="22" name="card-125"/>
          <p:cNvSpPr/>
          <p:nvPr/>
        </p:nvSpPr>
        <p:spPr>
          <a:xfrm>
            <a:off x="7269480" y="1737360"/>
            <a:ext cx="2057400" cy="3657600"/>
          </a:xfrm>
          <a:prstGeom prst="roundRect">
            <a:avLst>
              <a:gd name="adj" fmla="val 3556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23" name="andon-126"/>
          <p:cNvSpPr/>
          <p:nvPr/>
        </p:nvSpPr>
        <p:spPr>
          <a:xfrm>
            <a:off x="7452360" y="192024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4" name="andon-num-127"/>
          <p:cNvSpPr txBox="1"/>
          <p:nvPr/>
        </p:nvSpPr>
        <p:spPr>
          <a:xfrm>
            <a:off x="74523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2C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h-128"/>
          <p:cNvSpPr txBox="1"/>
          <p:nvPr/>
        </p:nvSpPr>
        <p:spPr>
          <a:xfrm>
            <a:off x="745236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4A"/>
                </a:solidFill>
              </a:rPr>
              <a:t>Belajar</a:t>
            </a:r>
            <a:endParaRPr lang="en-US" sz="1800" dirty="0"/>
          </a:p>
        </p:txBody>
      </p:sp>
      <p:sp>
        <p:nvSpPr>
          <p:cNvPr id="26" name="t-129"/>
          <p:cNvSpPr txBox="1"/>
          <p:nvPr/>
        </p:nvSpPr>
        <p:spPr>
          <a:xfrm>
            <a:off x="7452360" y="30175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Team leader meninjau penyebab dan setiap alert yang diabaikan di kaizen harian</a:t>
            </a:r>
            <a:endParaRPr lang="en-US" sz="1400" dirty="0"/>
          </a:p>
        </p:txBody>
      </p:sp>
      <p:sp>
        <p:nvSpPr>
          <p:cNvPr id="27" name="state-130"/>
          <p:cNvSpPr txBox="1"/>
          <p:nvPr/>
        </p:nvSpPr>
        <p:spPr>
          <a:xfrm>
            <a:off x="7452360" y="4846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</a:rPr>
              <a:t>Hilang hari ini</a:t>
            </a:r>
            <a:endParaRPr lang="en-US" sz="1300" dirty="0"/>
          </a:p>
        </p:txBody>
      </p:sp>
      <p:sp>
        <p:nvSpPr>
          <p:cNvPr id="28" name="card-131"/>
          <p:cNvSpPr/>
          <p:nvPr/>
        </p:nvSpPr>
        <p:spPr>
          <a:xfrm>
            <a:off x="9509760" y="1737360"/>
            <a:ext cx="2057400" cy="3657600"/>
          </a:xfrm>
          <a:prstGeom prst="roundRect">
            <a:avLst>
              <a:gd name="adj" fmla="val 3556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29" name="andon-132"/>
          <p:cNvSpPr/>
          <p:nvPr/>
        </p:nvSpPr>
        <p:spPr>
          <a:xfrm>
            <a:off x="9692640" y="192024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0" name="andon-num-133"/>
          <p:cNvSpPr txBox="1"/>
          <p:nvPr/>
        </p:nvSpPr>
        <p:spPr>
          <a:xfrm>
            <a:off x="9692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2C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h-134"/>
          <p:cNvSpPr txBox="1"/>
          <p:nvPr/>
        </p:nvSpPr>
        <p:spPr>
          <a:xfrm>
            <a:off x="969264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4A"/>
                </a:solidFill>
              </a:rPr>
              <a:t>Standarkan</a:t>
            </a:r>
            <a:endParaRPr lang="en-US" sz="1800" dirty="0"/>
          </a:p>
        </p:txBody>
      </p:sp>
      <p:sp>
        <p:nvSpPr>
          <p:cNvPr id="32" name="t-135"/>
          <p:cNvSpPr txBox="1"/>
          <p:nvPr/>
        </p:nvSpPr>
        <p:spPr>
          <a:xfrm>
            <a:off x="9692640" y="30175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Perbaikan masuk standard work dan disebar ke lini lain (yokoten)</a:t>
            </a:r>
            <a:endParaRPr lang="en-US" sz="1400" dirty="0"/>
          </a:p>
        </p:txBody>
      </p:sp>
      <p:sp>
        <p:nvSpPr>
          <p:cNvPr id="33" name="state-136"/>
          <p:cNvSpPr txBox="1"/>
          <p:nvPr/>
        </p:nvSpPr>
        <p:spPr>
          <a:xfrm>
            <a:off x="9692640" y="4846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</a:rPr>
              <a:t>Hilang hari ini</a:t>
            </a:r>
            <a:endParaRPr lang="en-US" sz="1300" dirty="0"/>
          </a:p>
        </p:txBody>
      </p:sp>
      <p:sp>
        <p:nvSpPr>
          <p:cNvPr id="34" name="source-137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Sumber: data/ideation.md; Exhibit 5 (sealer: belum ada umpan balik kualitas otomatis)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Kamera yang lebih baik saja menaikkan scrap 12%; menutup loop memangkasnya 85%</a:t>
            </a:r>
            <a:endParaRPr lang="en-US" sz="2400" dirty="0"/>
          </a:p>
        </p:txBody>
      </p:sp>
      <p:graphicFrame>
        <p:nvGraphicFramePr>
          <p:cNvPr id="4" name="chart-138" descr=""/>
          <p:cNvGraphicFramePr/>
          <p:nvPr/>
        </p:nvGraphicFramePr>
        <p:xfrm>
          <a:off x="548640" y="1554480"/>
          <a:ext cx="75895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-139"/>
          <p:cNvSpPr txBox="1"/>
          <p:nvPr/>
        </p:nvSpPr>
        <p:spPr>
          <a:xfrm>
            <a:off x="8503920" y="1737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+12%</a:t>
            </a:r>
            <a:endParaRPr lang="en-US" sz="4000" dirty="0"/>
          </a:p>
        </p:txBody>
      </p:sp>
      <p:sp>
        <p:nvSpPr>
          <p:cNvPr id="6" name="stat-label-140"/>
          <p:cNvSpPr txBox="1"/>
          <p:nvPr/>
        </p:nvSpPr>
        <p:spPr>
          <a:xfrm>
            <a:off x="8503920" y="2514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scrap dengan kamera lebih baik saja: cacat tetap ditemukan terlambat</a:t>
            </a:r>
            <a:endParaRPr lang="en-US" sz="1400" dirty="0"/>
          </a:p>
        </p:txBody>
      </p:sp>
      <p:sp>
        <p:nvSpPr>
          <p:cNvPr id="7" name="stat-141"/>
          <p:cNvSpPr txBox="1"/>
          <p:nvPr/>
        </p:nvSpPr>
        <p:spPr>
          <a:xfrm>
            <a:off x="8503920" y="3657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−85%</a:t>
            </a:r>
            <a:endParaRPr lang="en-US" sz="4000" dirty="0"/>
          </a:p>
        </p:txBody>
      </p:sp>
      <p:sp>
        <p:nvSpPr>
          <p:cNvPr id="8" name="stat-label-142"/>
          <p:cNvSpPr txBox="1"/>
          <p:nvPr/>
        </p:nvSpPr>
        <p:spPr>
          <a:xfrm>
            <a:off x="8503920" y="4434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scrap dengan loop tertutup dan alert yang dipercaya operator</a:t>
            </a:r>
            <a:endParaRPr lang="en-US" sz="1400" dirty="0"/>
          </a:p>
        </p:txBody>
      </p:sp>
      <p:sp>
        <p:nvSpPr>
          <p:cNvPr id="9" name="source-143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Sumber: Simulasi Monte Carlo drift sealer tim (model/run_tests.py); parameter proses ilustratif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Hanya Closed-Loop Kaizen yang membalik tren biaya; teknologi saja lebih buruk daripada tanpa tindakan</a:t>
            </a:r>
            <a:endParaRPr lang="en-US" sz="2400" dirty="0"/>
          </a:p>
        </p:txBody>
      </p:sp>
      <p:graphicFrame>
        <p:nvGraphicFramePr>
          <p:cNvPr id="4" name="chart-144" descr=""/>
          <p:cNvGraphicFramePr/>
          <p:nvPr/>
        </p:nvGraphicFramePr>
        <p:xfrm>
          <a:off x="548640" y="1554480"/>
          <a:ext cx="78638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-145"/>
          <p:cNvSpPr txBox="1"/>
          <p:nvPr/>
        </p:nvSpPr>
        <p:spPr>
          <a:xfrm>
            <a:off x="8778240" y="17373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100,8</a:t>
            </a:r>
            <a:endParaRPr lang="en-US" sz="4000" dirty="0"/>
          </a:p>
        </p:txBody>
      </p:sp>
      <p:sp>
        <p:nvSpPr>
          <p:cNvPr id="6" name="stat-label-146"/>
          <p:cNvSpPr txBox="1"/>
          <p:nvPr/>
        </p:nvSpPr>
        <p:spPr>
          <a:xfrm>
            <a:off x="8778240" y="2514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indeks biaya 2030 dengan Closed-Loop Kaizen (spreadsheet: 96,9)</a:t>
            </a:r>
            <a:endParaRPr lang="en-US" sz="1400" dirty="0"/>
          </a:p>
        </p:txBody>
      </p:sp>
      <p:sp>
        <p:nvSpPr>
          <p:cNvPr id="7" name="stat-147"/>
          <p:cNvSpPr txBox="1"/>
          <p:nvPr/>
        </p:nvSpPr>
        <p:spPr>
          <a:xfrm>
            <a:off x="8778240" y="36576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113,9</a:t>
            </a:r>
            <a:endParaRPr lang="en-US" sz="4000" dirty="0"/>
          </a:p>
        </p:txBody>
      </p:sp>
      <p:sp>
        <p:nvSpPr>
          <p:cNvPr id="8" name="stat-label-148"/>
          <p:cNvSpPr txBox="1"/>
          <p:nvPr/>
        </p:nvSpPr>
        <p:spPr>
          <a:xfrm>
            <a:off x="8778240" y="44348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tanpa tindakan; beli teknologi saja 115,2</a:t>
            </a:r>
            <a:endParaRPr lang="en-US" sz="1400" dirty="0"/>
          </a:p>
        </p:txBody>
      </p:sp>
      <p:sp>
        <p:nvSpPr>
          <p:cNvPr id="9" name="source-149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Sumber: model/sd_model.py; kalibrasi dan keterbatasan di work/5_tests.md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Waktu perbaikan naik dari 25% ke 41%, dan ketergantungan pada 1–2 senior turun dari 48% ke 26%</a:t>
            </a:r>
            <a:endParaRPr lang="en-US" sz="2400" dirty="0"/>
          </a:p>
        </p:txBody>
      </p:sp>
      <p:graphicFrame>
        <p:nvGraphicFramePr>
          <p:cNvPr id="4" name="chart-150" descr=""/>
          <p:cNvGraphicFramePr/>
          <p:nvPr/>
        </p:nvGraphicFramePr>
        <p:xfrm>
          <a:off x="548640" y="1554480"/>
          <a:ext cx="69494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-151"/>
          <p:cNvSpPr txBox="1"/>
          <p:nvPr/>
        </p:nvSpPr>
        <p:spPr>
          <a:xfrm>
            <a:off x="7863840" y="17373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0,67 → 3,0</a:t>
            </a:r>
            <a:endParaRPr lang="en-US" sz="3600" dirty="0"/>
          </a:p>
        </p:txBody>
      </p:sp>
      <p:sp>
        <p:nvSpPr>
          <p:cNvPr id="6" name="stat-label-152"/>
          <p:cNvSpPr txBox="1"/>
          <p:nvPr/>
        </p:nvSpPr>
        <p:spPr>
          <a:xfrm>
            <a:off x="7863840" y="25146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ide terimplementasi per engineer per tahun (2030)</a:t>
            </a:r>
            <a:endParaRPr lang="en-US" sz="1400" dirty="0"/>
          </a:p>
        </p:txBody>
      </p:sp>
      <p:sp>
        <p:nvSpPr>
          <p:cNvPr id="7" name="stat-153"/>
          <p:cNvSpPr txBox="1"/>
          <p:nvPr/>
        </p:nvSpPr>
        <p:spPr>
          <a:xfrm>
            <a:off x="7863840" y="36576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46% vs 22%</a:t>
            </a:r>
            <a:endParaRPr lang="en-US" sz="3600" dirty="0"/>
          </a:p>
        </p:txBody>
      </p:sp>
      <p:sp>
        <p:nvSpPr>
          <p:cNvPr id="8" name="stat-label-154"/>
          <p:cNvSpPr txBox="1"/>
          <p:nvPr/>
        </p:nvSpPr>
        <p:spPr>
          <a:xfrm>
            <a:off x="7863840" y="44348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simulasi di mana gate salah berhenti, tanpa vs dengan waktu yang dilindungi</a:t>
            </a:r>
            <a:endParaRPr lang="en-US" sz="1400" dirty="0"/>
          </a:p>
        </p:txBody>
      </p:sp>
      <p:sp>
        <p:nvSpPr>
          <p:cNvPr id="9" name="source-155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Sumber: model/sd_model.py; Exhibit 6A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Tidak ada opsi tunggal yang cukup; gabungannya menjadi #1 di sekitar 90% dari 20.000 kombinasi bobot</a:t>
            </a:r>
            <a:endParaRPr lang="en-US" sz="2400" dirty="0"/>
          </a:p>
        </p:txBody>
      </p:sp>
      <p:graphicFrame>
        <p:nvGraphicFramePr>
          <p:cNvPr id="16" name="table-1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5895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846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Opsi yang ditolak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Mengapa gagal bila berdiri sendiri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Kamera AI di seluruh lini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 +12% (simulasi); NPV −87,8 M, peluang positif 0% (system dynamics)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Lini tanpa konveyor + AGV/AMR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Padat modal; rekomendasi alat; sulit masuk Rp40–120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maintenance saja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menyentuh loop kualitas dan pengetahuan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SDM saja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Sinyal tetap terlambat; indeks biaya 2030 masih 110,7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Pelatihan saja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Keterampilan tanpa jalur balik tidak mengubah hasil; baru 18% operator terlatih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</a:tbl>
          </a:graphicData>
        </a:graphic>
      </p:graphicFrame>
      <p:sp>
        <p:nvSpPr>
          <p:cNvPr id="5" name="card-157"/>
          <p:cNvSpPr/>
          <p:nvPr/>
        </p:nvSpPr>
        <p:spPr>
          <a:xfrm>
            <a:off x="8412480" y="1554480"/>
            <a:ext cx="3200400" cy="3108960"/>
          </a:xfrm>
          <a:prstGeom prst="roundRect">
            <a:avLst>
              <a:gd name="adj" fmla="val 2353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6" name="stat-158"/>
          <p:cNvSpPr txBox="1"/>
          <p:nvPr/>
        </p:nvSpPr>
        <p:spPr>
          <a:xfrm>
            <a:off x="8641080" y="17830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7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≈90%</a:t>
            </a:r>
            <a:endParaRPr lang="en-US" sz="4400" dirty="0"/>
          </a:p>
        </p:txBody>
      </p:sp>
      <p:sp>
        <p:nvSpPr>
          <p:cNvPr id="7" name="stat-label-159"/>
          <p:cNvSpPr txBox="1"/>
          <p:nvPr/>
        </p:nvSpPr>
        <p:spPr>
          <a:xfrm>
            <a:off x="8641080" y="2560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kombinasi bobot acak di mana Closed-Loop Kaizen peringkat pertama; tetap #1 bila kelayakannya diberi skor terburuk</a:t>
            </a:r>
            <a:endParaRPr lang="en-US" sz="1400" dirty="0"/>
          </a:p>
        </p:txBody>
      </p:sp>
      <p:sp>
        <p:nvSpPr>
          <p:cNvPr id="8" name="source-160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Sumber: work/4_scoring.py (20.000 bobot Dirichlet); model/sd_model.py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Hanya 25% investasi dikeluarkan sebelum gate akhir 2027; sisanya hanya berdasarkan bukti</a:t>
            </a:r>
            <a:endParaRPr lang="en-US" sz="2400" dirty="0"/>
          </a:p>
        </p:txBody>
      </p:sp>
      <p:sp>
        <p:nvSpPr>
          <p:cNvPr id="4" name="card-161"/>
          <p:cNvSpPr/>
          <p:nvPr/>
        </p:nvSpPr>
        <p:spPr>
          <a:xfrm>
            <a:off x="548640" y="1737360"/>
            <a:ext cx="2057400" cy="3108960"/>
          </a:xfrm>
          <a:prstGeom prst="roundRect">
            <a:avLst>
              <a:gd name="adj" fmla="val 3556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5" name="h-162"/>
          <p:cNvSpPr txBox="1"/>
          <p:nvPr/>
        </p:nvSpPr>
        <p:spPr>
          <a:xfrm>
            <a:off x="685800" y="1828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4A"/>
                </a:solidFill>
              </a:rPr>
              <a:t>Persiapan</a:t>
            </a:r>
            <a:endParaRPr lang="en-US" sz="1700" dirty="0"/>
          </a:p>
        </p:txBody>
      </p:sp>
      <p:sp>
        <p:nvSpPr>
          <p:cNvPr id="6" name="w-163"/>
          <p:cNvSpPr txBox="1"/>
          <p:nvPr/>
        </p:nvSpPr>
        <p:spPr>
          <a:xfrm>
            <a:off x="685800" y="2240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B8A"/>
                </a:solidFill>
              </a:rPr>
              <a:t>Q4 2026 · 10%</a:t>
            </a:r>
            <a:endParaRPr lang="en-US" sz="1400" dirty="0"/>
          </a:p>
        </p:txBody>
      </p:sp>
      <p:sp>
        <p:nvSpPr>
          <p:cNvPr id="7" name="t-164"/>
          <p:cNvSpPr txBox="1"/>
          <p:nvPr/>
        </p:nvSpPr>
        <p:spPr>
          <a:xfrm>
            <a:off x="685800" y="269748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Loop sealer di CCTV; kanal ide; akademi kohort 1</a:t>
            </a:r>
            <a:endParaRPr lang="en-US" sz="1400" dirty="0"/>
          </a:p>
        </p:txBody>
      </p:sp>
      <p:sp>
        <p:nvSpPr>
          <p:cNvPr id="8" name="card-165"/>
          <p:cNvSpPr/>
          <p:nvPr/>
        </p:nvSpPr>
        <p:spPr>
          <a:xfrm>
            <a:off x="2788920" y="1737360"/>
            <a:ext cx="2057400" cy="3108960"/>
          </a:xfrm>
          <a:prstGeom prst="roundRect">
            <a:avLst>
              <a:gd name="adj" fmla="val 3556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9" name="h-166"/>
          <p:cNvSpPr txBox="1"/>
          <p:nvPr/>
        </p:nvSpPr>
        <p:spPr>
          <a:xfrm>
            <a:off x="2926080" y="1828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4A"/>
                </a:solidFill>
              </a:rPr>
              <a:t>Pilot</a:t>
            </a:r>
            <a:endParaRPr lang="en-US" sz="1700" dirty="0"/>
          </a:p>
        </p:txBody>
      </p:sp>
      <p:sp>
        <p:nvSpPr>
          <p:cNvPr id="10" name="w-167"/>
          <p:cNvSpPr txBox="1"/>
          <p:nvPr/>
        </p:nvSpPr>
        <p:spPr>
          <a:xfrm>
            <a:off x="2926080" y="2240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B8A"/>
                </a:solidFill>
              </a:rPr>
              <a:t>2027 · 15%</a:t>
            </a:r>
            <a:endParaRPr lang="en-US" sz="1400" dirty="0"/>
          </a:p>
        </p:txBody>
      </p:sp>
      <p:sp>
        <p:nvSpPr>
          <p:cNvPr id="11" name="t-168"/>
          <p:cNvSpPr txBox="1"/>
          <p:nvPr/>
        </p:nvSpPr>
        <p:spPr>
          <a:xfrm>
            <a:off x="2926080" y="269748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Loop semua shift; 3 alat buatan sendiri; 20 know-how</a:t>
            </a:r>
            <a:endParaRPr lang="en-US" sz="1400" dirty="0"/>
          </a:p>
        </p:txBody>
      </p:sp>
      <p:sp>
        <p:nvSpPr>
          <p:cNvPr id="12" name="card-169"/>
          <p:cNvSpPr/>
          <p:nvPr/>
        </p:nvSpPr>
        <p:spPr>
          <a:xfrm>
            <a:off x="5029200" y="1737360"/>
            <a:ext cx="2057400" cy="3108960"/>
          </a:xfrm>
          <a:prstGeom prst="roundRect">
            <a:avLst>
              <a:gd name="adj" fmla="val 3556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3" name="h-170"/>
          <p:cNvSpPr txBox="1"/>
          <p:nvPr/>
        </p:nvSpPr>
        <p:spPr>
          <a:xfrm>
            <a:off x="5166360" y="1828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4A"/>
                </a:solidFill>
              </a:rPr>
              <a:t>Standardisasi</a:t>
            </a:r>
            <a:endParaRPr lang="en-US" sz="1700" dirty="0"/>
          </a:p>
        </p:txBody>
      </p:sp>
      <p:sp>
        <p:nvSpPr>
          <p:cNvPr id="14" name="w-171"/>
          <p:cNvSpPr txBox="1"/>
          <p:nvPr/>
        </p:nvSpPr>
        <p:spPr>
          <a:xfrm>
            <a:off x="5166360" y="2240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B8A"/>
                </a:solidFill>
              </a:rPr>
              <a:t>2028 · 40%</a:t>
            </a:r>
            <a:endParaRPr lang="en-US" sz="1400" dirty="0"/>
          </a:p>
        </p:txBody>
      </p:sp>
      <p:sp>
        <p:nvSpPr>
          <p:cNvPr id="15" name="t-172"/>
          <p:cNvSpPr txBox="1"/>
          <p:nvPr/>
        </p:nvSpPr>
        <p:spPr>
          <a:xfrm>
            <a:off x="5166360" y="269748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Final assembly &amp; painting; standar data wajib</a:t>
            </a:r>
            <a:endParaRPr lang="en-US" sz="1400" dirty="0"/>
          </a:p>
        </p:txBody>
      </p:sp>
      <p:sp>
        <p:nvSpPr>
          <p:cNvPr id="16" name="card-173"/>
          <p:cNvSpPr/>
          <p:nvPr/>
        </p:nvSpPr>
        <p:spPr>
          <a:xfrm>
            <a:off x="7269480" y="1737360"/>
            <a:ext cx="2057400" cy="3108960"/>
          </a:xfrm>
          <a:prstGeom prst="roundRect">
            <a:avLst>
              <a:gd name="adj" fmla="val 3556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7" name="h-174"/>
          <p:cNvSpPr txBox="1"/>
          <p:nvPr/>
        </p:nvSpPr>
        <p:spPr>
          <a:xfrm>
            <a:off x="7406640" y="1828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4A"/>
                </a:solidFill>
              </a:rPr>
              <a:t>Roll-out</a:t>
            </a:r>
            <a:endParaRPr lang="en-US" sz="1700" dirty="0"/>
          </a:p>
        </p:txBody>
      </p:sp>
      <p:sp>
        <p:nvSpPr>
          <p:cNvPr id="18" name="w-175"/>
          <p:cNvSpPr txBox="1"/>
          <p:nvPr/>
        </p:nvSpPr>
        <p:spPr>
          <a:xfrm>
            <a:off x="7406640" y="2240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B8A"/>
                </a:solidFill>
              </a:rPr>
              <a:t>2029 · 25%</a:t>
            </a:r>
            <a:endParaRPr lang="en-US" sz="1400" dirty="0"/>
          </a:p>
        </p:txBody>
      </p:sp>
      <p:sp>
        <p:nvSpPr>
          <p:cNvPr id="19" name="t-176"/>
          <p:cNvSpPr txBox="1"/>
          <p:nvPr/>
        </p:nvSpPr>
        <p:spPr>
          <a:xfrm>
            <a:off x="7406640" y="269748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Semua lini kendaraan Karawang I &amp; II</a:t>
            </a:r>
            <a:endParaRPr lang="en-US" sz="1400" dirty="0"/>
          </a:p>
        </p:txBody>
      </p:sp>
      <p:sp>
        <p:nvSpPr>
          <p:cNvPr id="20" name="card-177"/>
          <p:cNvSpPr/>
          <p:nvPr/>
        </p:nvSpPr>
        <p:spPr>
          <a:xfrm>
            <a:off x="9509760" y="1737360"/>
            <a:ext cx="2057400" cy="3108960"/>
          </a:xfrm>
          <a:prstGeom prst="roundRect">
            <a:avLst>
              <a:gd name="adj" fmla="val 3556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21" name="h-178"/>
          <p:cNvSpPr txBox="1"/>
          <p:nvPr/>
        </p:nvSpPr>
        <p:spPr>
          <a:xfrm>
            <a:off x="9646920" y="1828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4A"/>
                </a:solidFill>
              </a:rPr>
              <a:t>Skala</a:t>
            </a:r>
            <a:endParaRPr lang="en-US" sz="1700" dirty="0"/>
          </a:p>
        </p:txBody>
      </p:sp>
      <p:sp>
        <p:nvSpPr>
          <p:cNvPr id="22" name="w-179"/>
          <p:cNvSpPr txBox="1"/>
          <p:nvPr/>
        </p:nvSpPr>
        <p:spPr>
          <a:xfrm>
            <a:off x="9646920" y="2240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B8A"/>
                </a:solidFill>
              </a:rPr>
              <a:t>2030 · 10%</a:t>
            </a:r>
            <a:endParaRPr lang="en-US" sz="1400" dirty="0"/>
          </a:p>
        </p:txBody>
      </p:sp>
      <p:sp>
        <p:nvSpPr>
          <p:cNvPr id="23" name="t-180"/>
          <p:cNvSpPr txBox="1"/>
          <p:nvPr/>
        </p:nvSpPr>
        <p:spPr>
          <a:xfrm>
            <a:off x="9646920" y="269748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Pabrik mesin; varian lewat konfigurasi</a:t>
            </a:r>
            <a:endParaRPr lang="en-US" sz="1400" dirty="0"/>
          </a:p>
        </p:txBody>
      </p:sp>
      <p:sp>
        <p:nvSpPr>
          <p:cNvPr id="24" name="gate-181"/>
          <p:cNvSpPr/>
          <p:nvPr/>
        </p:nvSpPr>
        <p:spPr>
          <a:xfrm>
            <a:off x="4645152" y="4983480"/>
            <a:ext cx="594360" cy="594360"/>
          </a:xfrm>
          <a:prstGeom prst="diamond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5" name="gate-t-182"/>
          <p:cNvSpPr txBox="1"/>
          <p:nvPr/>
        </p:nvSpPr>
        <p:spPr>
          <a:xfrm>
            <a:off x="5349240" y="49834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C"/>
                </a:solidFill>
              </a:rPr>
              <a:t>Gate akhir 2027: enam kriteria terukur; bila gagal, 75% belanja ditahan</a:t>
            </a:r>
            <a:endParaRPr lang="en-US" sz="1500" dirty="0"/>
          </a:p>
        </p:txBody>
      </p:sp>
      <p:sp>
        <p:nvSpPr>
          <p:cNvPr id="26" name="sustain-183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</a:rPr>
              <a:t>Pelihara 2031+: audit standar, penggantian teknologi sekitar Rp16 M per tahun</a:t>
            </a:r>
            <a:endParaRPr lang="en-US" sz="1400" dirty="0"/>
          </a:p>
        </p:txBody>
      </p:sp>
      <p:sp>
        <p:nvSpPr>
          <p:cNvPr id="27" name="source-184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Sumber: work/6_roadmap.md; porsi investasi sama di kedua model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Seratus hari pertama hanya memakai aset yang sudah ada: kamera CCTV tervalidasi, operator, dan team leader</a:t>
            </a:r>
            <a:endParaRPr lang="en-US" sz="2400" dirty="0"/>
          </a:p>
        </p:txBody>
      </p:sp>
      <p:sp>
        <p:nvSpPr>
          <p:cNvPr id="4" name="card-185"/>
          <p:cNvSpPr/>
          <p:nvPr/>
        </p:nvSpPr>
        <p:spPr>
          <a:xfrm>
            <a:off x="548640" y="164592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5" name="andon-18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andon-num-187"/>
          <p:cNvSpPr txBox="1"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2C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h-188"/>
          <p:cNvSpPr txBox="1"/>
          <p:nvPr/>
        </p:nvSpPr>
        <p:spPr>
          <a:xfrm>
            <a:off x="1371600" y="17830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3D4A"/>
                </a:solidFill>
              </a:rPr>
              <a:t>Lihat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</a:rPr>
              <a:t>Hari 1–30</a:t>
            </a:r>
            <a:endParaRPr lang="en-US" sz="2000" dirty="0"/>
          </a:p>
        </p:txBody>
      </p:sp>
      <p:sp>
        <p:nvSpPr>
          <p:cNvPr id="8" name="bullets-189"/>
          <p:cNvSpPr txBox="1"/>
          <p:nvPr/>
        </p:nvSpPr>
        <p:spPr>
          <a:xfrm>
            <a:off x="822960" y="278892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62C"/>
                </a:solidFill>
              </a:rPr>
              <a:t>Genchi genbutsu di sealer → inspeksi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62C"/>
                </a:solidFill>
              </a:rPr>
              <a:t>Baseline scrap dan alert yang diabaikan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62C"/>
                </a:solidFill>
              </a:rPr>
              <a:t>Tunjuk pemilik standar data; luncurkan kanal ide</a:t>
            </a:r>
            <a:endParaRPr lang="en-US" sz="1500" dirty="0"/>
          </a:p>
        </p:txBody>
      </p:sp>
      <p:sp>
        <p:nvSpPr>
          <p:cNvPr id="9" name="card-190"/>
          <p:cNvSpPr/>
          <p:nvPr/>
        </p:nvSpPr>
        <p:spPr>
          <a:xfrm>
            <a:off x="4297680" y="164592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0" name="andon-191"/>
          <p:cNvSpPr/>
          <p:nvPr/>
        </p:nvSpPr>
        <p:spPr>
          <a:xfrm>
            <a:off x="4526280" y="182880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andon-num-192"/>
          <p:cNvSpPr txBox="1"/>
          <p:nvPr/>
        </p:nvSpPr>
        <p:spPr>
          <a:xfrm>
            <a:off x="45262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2C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h-193"/>
          <p:cNvSpPr txBox="1"/>
          <p:nvPr/>
        </p:nvSpPr>
        <p:spPr>
          <a:xfrm>
            <a:off x="5120640" y="17830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3D4A"/>
                </a:solidFill>
              </a:rPr>
              <a:t>Hubungkan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</a:rPr>
              <a:t>Hari 31–60</a:t>
            </a:r>
            <a:endParaRPr lang="en-US" sz="2000" dirty="0"/>
          </a:p>
        </p:txBody>
      </p:sp>
      <p:sp>
        <p:nvSpPr>
          <p:cNvPr id="13" name="bullets-194"/>
          <p:cNvSpPr txBox="1"/>
          <p:nvPr/>
        </p:nvSpPr>
        <p:spPr>
          <a:xfrm>
            <a:off x="4572000" y="278892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62C"/>
                </a:solidFill>
              </a:rPr>
              <a:t>Kamera tervalidasi ke alert sealer dan andon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62C"/>
                </a:solidFill>
              </a:rPr>
              <a:t>Aturan alert dirancang bersama team leader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62C"/>
                </a:solidFill>
              </a:rPr>
              <a:t>Sprint pertama know-how senior</a:t>
            </a:r>
            <a:endParaRPr lang="en-US" sz="1500" dirty="0"/>
          </a:p>
        </p:txBody>
      </p:sp>
      <p:sp>
        <p:nvSpPr>
          <p:cNvPr id="14" name="card-195"/>
          <p:cNvSpPr/>
          <p:nvPr/>
        </p:nvSpPr>
        <p:spPr>
          <a:xfrm>
            <a:off x="8046720" y="164592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5" name="andon-196"/>
          <p:cNvSpPr/>
          <p:nvPr/>
        </p:nvSpPr>
        <p:spPr>
          <a:xfrm>
            <a:off x="8275320" y="182880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andon-num-197"/>
          <p:cNvSpPr txBox="1"/>
          <p:nvPr/>
        </p:nvSpPr>
        <p:spPr>
          <a:xfrm>
            <a:off x="8275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2C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h-198"/>
          <p:cNvSpPr txBox="1"/>
          <p:nvPr/>
        </p:nvSpPr>
        <p:spPr>
          <a:xfrm>
            <a:off x="8869680" y="17830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3D4A"/>
                </a:solidFill>
              </a:rPr>
              <a:t>Jalankan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</a:rPr>
              <a:t>Hari 61–100</a:t>
            </a:r>
            <a:endParaRPr lang="en-US" sz="2000" dirty="0"/>
          </a:p>
        </p:txBody>
      </p:sp>
      <p:sp>
        <p:nvSpPr>
          <p:cNvPr id="18" name="bullets-199"/>
          <p:cNvSpPr txBox="1"/>
          <p:nvPr/>
        </p:nvSpPr>
        <p:spPr>
          <a:xfrm>
            <a:off x="8321040" y="278892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62C"/>
                </a:solidFill>
              </a:rPr>
              <a:t>Loop di satu shift, lalu semua shift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62C"/>
                </a:solidFill>
              </a:rPr>
              <a:t>Kaizen mingguan untuk setiap alert yang diabaikan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62C"/>
                </a:solidFill>
              </a:rPr>
              <a:t>Kohort akademi membangun alat pertama</a:t>
            </a:r>
            <a:endParaRPr lang="en-US" sz="1500" dirty="0"/>
          </a:p>
        </p:txBody>
      </p:sp>
      <p:sp>
        <p:nvSpPr>
          <p:cNvPr id="19" name="source-200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Sumber: work/6_roadmap.md §4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Software &amp; AI mahir naik dari 2 ke 13,6, dan TMMIN membangun sendiri apa yang menjadi pembeda</a:t>
            </a:r>
            <a:endParaRPr lang="en-US" sz="2400" dirty="0"/>
          </a:p>
        </p:txBody>
      </p:sp>
      <p:graphicFrame>
        <p:nvGraphicFramePr>
          <p:cNvPr id="4" name="chart-201" descr=""/>
          <p:cNvGraphicFramePr/>
          <p:nvPr/>
        </p:nvGraphicFramePr>
        <p:xfrm>
          <a:off x="548640" y="1554480"/>
          <a:ext cx="54864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9" name="table-2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554480"/>
          <a:ext cx="521208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Komponen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Pilihan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Logika loop dan aturan alert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 antarmuka dan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inspeksi 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Peralatan dan fixture standar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Komputasi dan cloud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pertama di pilot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Mitra, sementara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canggih, proses baterai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</a:tbl>
          </a:graphicData>
        </a:graphic>
      </p:graphicFrame>
      <p:sp>
        <p:nvSpPr>
          <p:cNvPr id="6" name="note-203"/>
          <p:cNvSpPr txBox="1"/>
          <p:nvPr/>
        </p:nvSpPr>
        <p:spPr>
          <a:xfrm>
            <a:off x="6400800" y="51206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70"/>
                </a:solidFill>
              </a:rPr>
              <a:t>Setiap kontrak mitra: engineer berpasangan, dokumentasi dalam standar TMMIN, serah terima sebagai syarat pembayaran akhir</a:t>
            </a:r>
            <a:endParaRPr lang="en-US" sz="1300" dirty="0"/>
          </a:p>
        </p:txBody>
      </p:sp>
      <p:sp>
        <p:nvSpPr>
          <p:cNvPr id="7" name="source-204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Sumber: Exhibit 7; model/sd_model.py; work/6_roadmap.md §5–6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Rp80 M menghasilkan NPV Rp27–31 M dan sudah impas bila menutup 22% selisih biaya</a:t>
            </a:r>
            <a:endParaRPr lang="en-US" sz="2400" dirty="0"/>
          </a:p>
        </p:txBody>
      </p:sp>
      <p:graphicFrame>
        <p:nvGraphicFramePr>
          <p:cNvPr id="4" name="chart-205" descr=""/>
          <p:cNvGraphicFramePr/>
          <p:nvPr/>
        </p:nvGraphicFramePr>
        <p:xfrm>
          <a:off x="548640" y="1554480"/>
          <a:ext cx="65836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-206"/>
          <p:cNvSpPr txBox="1"/>
          <p:nvPr/>
        </p:nvSpPr>
        <p:spPr>
          <a:xfrm>
            <a:off x="7498080" y="16916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Rp31,4 M</a:t>
            </a:r>
            <a:endParaRPr lang="en-US" sz="3600" dirty="0"/>
          </a:p>
        </p:txBody>
      </p:sp>
      <p:sp>
        <p:nvSpPr>
          <p:cNvPr id="6" name="stat-label-207"/>
          <p:cNvSpPr txBox="1"/>
          <p:nvPr/>
        </p:nvSpPr>
        <p:spPr>
          <a:xfrm>
            <a:off x="7498080" y="24688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NPV di model system dynamics, vs tanpa tindakan; payback 2030</a:t>
            </a:r>
            <a:endParaRPr lang="en-US" sz="1400" dirty="0"/>
          </a:p>
        </p:txBody>
      </p:sp>
      <p:sp>
        <p:nvSpPr>
          <p:cNvPr id="7" name="stat-208"/>
          <p:cNvSpPr txBox="1"/>
          <p:nvPr/>
        </p:nvSpPr>
        <p:spPr>
          <a:xfrm>
            <a:off x="7498080" y="33375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B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</a:t>
            </a:r>
            <a:endParaRPr lang="en-US" sz="3600" dirty="0"/>
          </a:p>
        </p:txBody>
      </p:sp>
      <p:sp>
        <p:nvSpPr>
          <p:cNvPr id="8" name="stat-label-209"/>
          <p:cNvSpPr txBox="1"/>
          <p:nvPr/>
        </p:nvSpPr>
        <p:spPr>
          <a:xfrm>
            <a:off x="7498080" y="41148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selisih biaya yang perlu tertutup agar impas (penghematan tahun pertama Rp19,6 M)</a:t>
            </a:r>
            <a:endParaRPr lang="en-US" sz="1400" dirty="0"/>
          </a:p>
        </p:txBody>
      </p:sp>
      <p:sp>
        <p:nvSpPr>
          <p:cNvPr id="9" name="note-210"/>
          <p:cNvSpPr txBox="1"/>
          <p:nvPr/>
        </p:nvSpPr>
        <p:spPr>
          <a:xfrm>
            <a:off x="7498080" y="49834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770"/>
                </a:solidFill>
              </a:rPr>
              <a:t>Batas bawah yang jujur: bila kinerja 2025 bisa dibekukan tanpa usaha, NPV 2026–30 −65,4 M; 2026–35 Rp17,0 M</a:t>
            </a:r>
            <a:endParaRPr lang="en-US" sz="1300" dirty="0"/>
          </a:p>
        </p:txBody>
      </p:sp>
      <p:sp>
        <p:nvSpPr>
          <p:cNvPr id="10" name="source-211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Sumber: model/build_model.py (Exhibit 9: 175.000 unit × Rp3,2 juta, diskonto 10%, eskalasi 4%); model/sd_model.py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Kecepatan menentukan: terlambat setahun, peluang NPV positif turun ke 21–32%; pilot-light adalah asuransi</a:t>
            </a:r>
            <a:endParaRPr lang="en-US" sz="2400" dirty="0"/>
          </a:p>
        </p:txBody>
      </p:sp>
      <p:graphicFrame>
        <p:nvGraphicFramePr>
          <p:cNvPr id="4" name="chart-212" descr=""/>
          <p:cNvGraphicFramePr/>
          <p:nvPr/>
        </p:nvGraphicFramePr>
        <p:xfrm>
          <a:off x="548640" y="1554480"/>
          <a:ext cx="71323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table-2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1554480"/>
          <a:ext cx="365760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1234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finansial (10.000 simulasi)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P(NPV&gt;0)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Pilot-light + gate (rencana)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Pilot-light tanpa gate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Belanja di awal tanpa gate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Rencana, terlambat 1 tahun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note-214"/>
          <p:cNvSpPr txBox="1"/>
          <p:nvPr/>
        </p:nvSpPr>
        <p:spPr>
          <a:xfrm>
            <a:off x="7955280" y="40233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Kedua model sepakat soal kecepatan. Mereka berbeda soal belanja di awal karena hanya system dynamics yang mengaitkan cakupan loop dengan belanja</a:t>
            </a:r>
            <a:endParaRPr lang="en-US" sz="1400" dirty="0"/>
          </a:p>
        </p:txBody>
      </p:sp>
      <p:sp>
        <p:nvSpPr>
          <p:cNvPr id="7" name="source-215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Sumber: model/run_tests.py; model/sd_model.py (18 input segitiga, termasuk uji kegagalan adopsi 20–60%)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Sekitar 1.765 t CO₂ per tahun dihindari dan scrap −40%; hasilnya bertahan selama cara kerja dipertahankan</a:t>
            </a:r>
            <a:endParaRPr lang="en-US" sz="2400" dirty="0"/>
          </a:p>
        </p:txBody>
      </p:sp>
      <p:graphicFrame>
        <p:nvGraphicFramePr>
          <p:cNvPr id="4" name="chart-216" descr=""/>
          <p:cNvGraphicFramePr/>
          <p:nvPr/>
        </p:nvGraphicFramePr>
        <p:xfrm>
          <a:off x="548640" y="1554480"/>
          <a:ext cx="56692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-217" descr=""/>
          <p:cNvGraphicFramePr/>
          <p:nvPr/>
        </p:nvGraphicFramePr>
        <p:xfrm>
          <a:off x="6400800" y="155448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note-218"/>
          <p:cNvSpPr txBox="1"/>
          <p:nvPr/>
        </p:nvSpPr>
        <p:spPr>
          <a:xfrm>
            <a:off x="6400800" y="470916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62C"/>
                </a:solidFill>
              </a:rPr>
              <a:t>Ketahanan 2035: 98,4 vs 105,2 bila dihentikan. </a:t>
            </a:r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</a:rPr>
              <a:t>Sosial 2030: ketergantungan pada senior 48% → 26%; tanpa PHK (50% waktu yang dibebaskan dialihkan ke kaizen).</a:t>
            </a:r>
            <a:endParaRPr lang="en-US" sz="1400" dirty="0"/>
          </a:p>
        </p:txBody>
      </p:sp>
      <p:sp>
        <p:nvSpPr>
          <p:cNvPr id="7" name="source-219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Sumber: model/sd_model.py; Kepmen ESDM 163.K/2021; tarif PLN 2025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pilot sekaligus kriteria gate: scrap pilot −60%, alert diabaikan ≤ 20%, ide ≥ 0,75 per engineer</a:t>
            </a:r>
            <a:endParaRPr lang="en-US" sz="2400" dirty="0"/>
          </a:p>
        </p:txBody>
      </p:sp>
      <p:graphicFrame>
        <p:nvGraphicFramePr>
          <p:cNvPr id="23" name="table-2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1737360"/>
                <a:gridCol w="210312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2027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2030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Indeks biaya konversi (harga konstan 2025)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101 (potensi 96,9)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Laju belajar: perubahan indeks per tahun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Berhenti naik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−3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Penurunan scrap area pilot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Indeks scrap pabrik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yang mengabaikan alert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Waktu engineer untuk perbaikan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30%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 terimplementasi per engineer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0,75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Know-how kritis terdokumentasi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 Software &amp; AI L3+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CO₂ dihindari (t/tahun)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221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Sumber: work/7_kpis.md; Exhibit 3, 4, 6A, 6B, 7; model/sd_model.py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keputusan kuartal ini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Pabrik yang kembali belajar dimulai dari satu loop di sealer</a:t>
            </a:r>
            <a:endParaRPr lang="en-US" sz="2200" dirty="0"/>
          </a:p>
        </p:txBody>
      </p:sp>
      <p:sp>
        <p:nvSpPr>
          <p:cNvPr id="4" name="andon-222"/>
          <p:cNvSpPr/>
          <p:nvPr/>
        </p:nvSpPr>
        <p:spPr>
          <a:xfrm>
            <a:off x="548640" y="434340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andon-num-223"/>
          <p:cNvSpPr txBox="1"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2C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ask-224"/>
          <p:cNvSpPr txBox="1"/>
          <p:nvPr/>
        </p:nvSpPr>
        <p:spPr>
          <a:xfrm>
            <a:off x="1097280" y="43434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Setujui Rp8 M untuk pilot sealer → inspeksi, mulai Q4 2026</a:t>
            </a:r>
            <a:endParaRPr lang="en-US" sz="1700" dirty="0"/>
          </a:p>
        </p:txBody>
      </p:sp>
      <p:sp>
        <p:nvSpPr>
          <p:cNvPr id="7" name="andon-225"/>
          <p:cNvSpPr/>
          <p:nvPr/>
        </p:nvSpPr>
        <p:spPr>
          <a:xfrm>
            <a:off x="548640" y="484632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andon-num-226"/>
          <p:cNvSpPr txBox="1"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2C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ask-227"/>
          <p:cNvSpPr txBox="1"/>
          <p:nvPr/>
        </p:nvSpPr>
        <p:spPr>
          <a:xfrm>
            <a:off x="1097280" y="48463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Tunjuk satu pemilik standar data pabrik</a:t>
            </a:r>
            <a:endParaRPr lang="en-US" sz="1700" dirty="0"/>
          </a:p>
        </p:txBody>
      </p:sp>
      <p:sp>
        <p:nvSpPr>
          <p:cNvPr id="10" name="andon-228"/>
          <p:cNvSpPr/>
          <p:nvPr/>
        </p:nvSpPr>
        <p:spPr>
          <a:xfrm>
            <a:off x="548640" y="534924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andon-num-229"/>
          <p:cNvSpPr txBox="1"/>
          <p:nvPr/>
        </p:nvSpPr>
        <p:spPr>
          <a:xfrm>
            <a:off x="54864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2C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ask-230"/>
          <p:cNvSpPr txBox="1"/>
          <p:nvPr/>
        </p:nvSpPr>
        <p:spPr>
          <a:xfrm>
            <a:off x="1097280" y="534924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Lindungi 30% waktu perbaikan; kunci setiap jam yang dibebaskan loop</a:t>
            </a:r>
            <a:endParaRPr lang="en-US" sz="1700" dirty="0"/>
          </a:p>
        </p:txBody>
      </p:sp>
      <p:sp>
        <p:nvSpPr>
          <p:cNvPr id="13" name="andon-231"/>
          <p:cNvSpPr/>
          <p:nvPr/>
        </p:nvSpPr>
        <p:spPr>
          <a:xfrm>
            <a:off x="548640" y="585216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andon-num-232"/>
          <p:cNvSpPr txBox="1"/>
          <p:nvPr/>
        </p:nvSpPr>
        <p:spPr>
          <a:xfrm>
            <a:off x="548640" y="5852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2C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ask-233"/>
          <p:cNvSpPr txBox="1"/>
          <p:nvPr/>
        </p:nvSpPr>
        <p:spPr>
          <a:xfrm>
            <a:off x="1097280" y="585216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Skalakan hanya lewat gate akhir 2027, dan anggarkan pemeliharaan setelah 2030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A1. Model system dynamics mereproduksi 2023–2025 sebelum dipakai untuk membandingkan kebijakan</a:t>
            </a:r>
            <a:endParaRPr lang="en-US" sz="2400" dirty="0"/>
          </a:p>
        </p:txBody>
      </p:sp>
      <p:graphicFrame>
        <p:nvGraphicFramePr>
          <p:cNvPr id="25" name="table-2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5836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46304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Variabel (tanpa tindakan, 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Exhibit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Indeks scrap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 (Ex.4)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 terimplementasi per engineer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0,67 (Ex.6A)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Know-how terdokumentasi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 (Ex.6A)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Waktu rutin engineer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 (Ex.6A)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Bulan modifikasi per varian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(Ex.4)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Waktu NVA operator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 (Ex.4)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Indeks biaya 2024 / 2025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103,1 / 106,6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 / 106 (Ex.3)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</a:tbl>
          </a:graphicData>
        </a:graphic>
      </p:graphicFrame>
      <p:sp>
        <p:nvSpPr>
          <p:cNvPr id="5" name="bullets-235"/>
          <p:cNvSpPr txBox="1"/>
          <p:nvPr/>
        </p:nvSpPr>
        <p:spPr>
          <a:xfrm>
            <a:off x="7406640" y="1554480"/>
            <a:ext cx="4206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2C"/>
                </a:solidFill>
              </a:rPr>
              <a:t>Loop R1: jebakan firefighting (Repenning &amp; Sterman 2001)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2C"/>
                </a:solidFill>
              </a:rPr>
              <a:t>Loop R2: belajar (perbaikan → know-how → waktu bebas)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2C"/>
                </a:solidFill>
              </a:rPr>
              <a:t>Loop R3: kapabilitas (akademi → engineer L3+ → rollout)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2C"/>
                </a:solidFill>
              </a:rPr>
              <a:t>Loop B1: kepercayaan operator terhadap alert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2C"/>
                </a:solidFill>
              </a:rPr>
              <a:t>Skrip menolak berjalan bila kalibrasi meleset &gt; 3%</a:t>
            </a:r>
            <a:endParaRPr lang="en-US" sz="1400" dirty="0"/>
          </a:p>
        </p:txBody>
      </p:sp>
      <p:sp>
        <p:nvSpPr>
          <p:cNvPr id="6" name="source-236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Sumber: model/sd_model.py; work/5_tests.md §1.2, §10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A2. Setiap tuas berada di bawah benchmark eksternal</a:t>
            </a:r>
            <a:endParaRPr lang="en-US" sz="2400" dirty="0"/>
          </a:p>
        </p:txBody>
      </p:sp>
      <p:graphicFrame>
        <p:nvGraphicFramePr>
          <p:cNvPr id="26" name="table-2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663440"/>
                <a:gridCol w="164592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eksternal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Spreadsheet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dynamics 2030 vs 2025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Simulasi tim: −85% di area loop × 40% cakupan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Downtime / perawatan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McKinsey: biaya −18–25%, downtime hingga −50%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biaya −10%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downtime −19%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Waktu NVA operator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Toyota AI Platform &gt;10.000 jam/tahun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Nissan AS +13,8% dalam 3 tahun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−5% (cakupan penuh)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Modifikasi varian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commissioning −70% (Wipro PARI), −40% (Kalypso)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biaya −35%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bulan −20%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</a:tbl>
          </a:graphicData>
        </a:graphic>
      </p:graphicFrame>
      <p:sp>
        <p:nvSpPr>
          <p:cNvPr id="5" name="source-238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Sumber: data/research.md; work/5_tests.md §6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3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A3. Koreksi terbuka: target yang kami turunkan setelah model system dynamics</a:t>
            </a:r>
            <a:endParaRPr lang="en-US" sz="2400" dirty="0"/>
          </a:p>
        </p:txBody>
      </p:sp>
      <p:graphicFrame>
        <p:nvGraphicFramePr>
          <p:cNvPr id="27" name="table-2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926080"/>
                <a:gridCol w="3749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 lama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Sekarang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Mengapa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Indeks biaya 2030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101 (96,9 potensi)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Kemerosotan harus dihentikan dulu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Indeks biaya 2027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pilot −60% scrap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Penghematan pabrik datang setelah 2027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Indeks scrap 2030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Cakupan loop dibatasi kapabilitas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Cacat lolos 2030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menjangkau 40% sumber scrap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Downtime 2030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Dijaga di bawah benchmark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Know-how 2030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Know-how usang 10% per tahun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 per engineer 2030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 diajukan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2,4 terimplementasi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Diukur seperti Ex.6A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Bulan per varian 2030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Kompleksitas naik dengan elektrifikasi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240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Sumber: work/7_kpis.md §4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sed-Loop Kaizen">
  <a:themeElements>
    <a:clrScheme name="Closed-Loop Kaizen">
      <a:dk1>
        <a:srgbClr val="1B262C"/>
      </a:dk1>
      <a:lt1>
        <a:srgbClr val="FFFFFF"/>
      </a:lt1>
      <a:dk2>
        <a:srgbClr val="0F3D4A"/>
      </a:dk2>
      <a:lt2>
        <a:srgbClr val="EEF3F4"/>
      </a:lt2>
      <a:accent1>
        <a:srgbClr val="F2A900"/>
      </a:accent1>
      <a:accent2>
        <a:srgbClr val="0F7B8A"/>
      </a:accent2>
      <a:accent3>
        <a:srgbClr val="C2410C"/>
      </a:accent3>
      <a:accent4>
        <a:srgbClr val="7A8B92"/>
      </a:accent4>
      <a:accent5>
        <a:srgbClr val="2E7D32"/>
      </a:accent5>
      <a:accent6>
        <a:srgbClr val="5B6770"/>
      </a:accent6>
      <a:hlink>
        <a:srgbClr val="0F7B8A"/>
      </a:hlink>
      <a:folHlink>
        <a:srgbClr val="5B6770"/>
      </a:folHlink>
    </a:clrScheme>
    <a:fontScheme name="Closed-Loop Kaiz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Closed-Loop Kaizen</dc:title>
  <dc:subject>M3C 2026 — TMMIN case</dc:subject>
  <dc:creator>PptxGenJS</dc:creator>
  <cp:lastModifiedBy>PptxGenJS</cp:lastModifiedBy>
  <cp:revision>1</cp:revision>
  <dcterms:created xsi:type="dcterms:W3CDTF">2026-10-05T16:10:52Z</dcterms:created>
  <dcterms:modified xsi:type="dcterms:W3CDTF">2026-10-05T16:10:52Z</dcterms:modified>
</cp:coreProperties>
</file>